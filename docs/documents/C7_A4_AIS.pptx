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262" r:id="rId2"/>
    <p:sldId id="263" r:id="rId3"/>
    <p:sldId id="256" r:id="rId4"/>
    <p:sldId id="257" r:id="rId5"/>
    <p:sldId id="264" r:id="rId6"/>
    <p:sldId id="258" r:id="rId7"/>
    <p:sldId id="260" r:id="rId8"/>
    <p:sldId id="265" r:id="rId9"/>
    <p:sldId id="266" r:id="rId10"/>
    <p:sldId id="267" r:id="rId11"/>
    <p:sldId id="268" r:id="rId12"/>
    <p:sldId id="269"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F8FE5F-6639-4004-86FA-86E7FB53B8A3}" type="datetimeFigureOut">
              <a:rPr lang="en-IN" smtClean="0"/>
              <a:t>28-03-2026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4CD5E-B47E-4F6C-98BA-87354A2A8730}" type="slidenum">
              <a:rPr lang="en-IN" smtClean="0"/>
              <a:t>‹#›</a:t>
            </a:fld>
            <a:endParaRPr lang="en-IN"/>
          </a:p>
        </p:txBody>
      </p:sp>
    </p:spTree>
    <p:extLst>
      <p:ext uri="{BB962C8B-B14F-4D97-AF65-F5344CB8AC3E}">
        <p14:creationId xmlns:p14="http://schemas.microsoft.com/office/powerpoint/2010/main" val="2944972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6205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92463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prstGeom prst="rect">
            <a:avLst/>
          </a:prstGeom>
        </p:spPr>
        <p:txBody>
          <a:bodyPr/>
          <a:lstStyle>
            <a:lvl1pPr>
              <a:defRPr>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accent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2691D047-FF56-44EB-BEA4-FC55E9E81576}" type="datetime1">
              <a:rPr lang="en-US"/>
              <a:pPr>
                <a:defRPr/>
              </a:pPr>
              <a:t>3/28/2026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71373300-274E-453B-87C3-DFAD840521EE}" type="slidenum">
              <a:rPr lang="en-US"/>
              <a:pPr/>
              <a:t>‹#›</a:t>
            </a:fld>
            <a:endParaRPr lang="en-US"/>
          </a:p>
        </p:txBody>
      </p:sp>
      <p:sp>
        <p:nvSpPr>
          <p:cNvPr id="7" name="Title 1">
            <a:extLst>
              <a:ext uri="{FF2B5EF4-FFF2-40B4-BE49-F238E27FC236}">
                <a16:creationId xmlns:a16="http://schemas.microsoft.com/office/drawing/2014/main" id="{63803D69-2B0D-4E1E-BB40-F5346A29EBAA}"/>
              </a:ext>
            </a:extLst>
          </p:cNvPr>
          <p:cNvSpPr txBox="1">
            <a:spLocks/>
          </p:cNvSpPr>
          <p:nvPr userDrawn="1"/>
        </p:nvSpPr>
        <p:spPr bwMode="auto">
          <a:xfrm>
            <a:off x="50800" y="52388"/>
            <a:ext cx="10972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algn="l" rtl="0" fontAlgn="base">
              <a:spcBef>
                <a:spcPct val="0"/>
              </a:spcBef>
              <a:spcAft>
                <a:spcPct val="0"/>
              </a:spcAft>
              <a:defRPr lang="en-US" sz="2800" b="1" kern="1200" dirty="0">
                <a:solidFill>
                  <a:schemeClr val="bg1"/>
                </a:solidFill>
                <a:latin typeface="+mj-lt"/>
                <a:ea typeface="+mj-ea"/>
                <a:cs typeface="+mj-cs"/>
              </a:defRPr>
            </a:lvl1pPr>
            <a:lvl2pPr algn="l" rtl="0" fontAlgn="base">
              <a:spcBef>
                <a:spcPct val="0"/>
              </a:spcBef>
              <a:spcAft>
                <a:spcPct val="0"/>
              </a:spcAft>
              <a:defRPr sz="2800" b="1">
                <a:solidFill>
                  <a:schemeClr val="bg1"/>
                </a:solidFill>
                <a:latin typeface="Calibri" pitchFamily="34" charset="0"/>
              </a:defRPr>
            </a:lvl2pPr>
            <a:lvl3pPr algn="l" rtl="0" fontAlgn="base">
              <a:spcBef>
                <a:spcPct val="0"/>
              </a:spcBef>
              <a:spcAft>
                <a:spcPct val="0"/>
              </a:spcAft>
              <a:defRPr sz="2800" b="1">
                <a:solidFill>
                  <a:schemeClr val="bg1"/>
                </a:solidFill>
                <a:latin typeface="Calibri" pitchFamily="34" charset="0"/>
              </a:defRPr>
            </a:lvl3pPr>
            <a:lvl4pPr algn="l" rtl="0" fontAlgn="base">
              <a:spcBef>
                <a:spcPct val="0"/>
              </a:spcBef>
              <a:spcAft>
                <a:spcPct val="0"/>
              </a:spcAft>
              <a:defRPr sz="2800" b="1">
                <a:solidFill>
                  <a:schemeClr val="bg1"/>
                </a:solidFill>
                <a:latin typeface="Calibri" pitchFamily="34" charset="0"/>
              </a:defRPr>
            </a:lvl4pPr>
            <a:lvl5pPr algn="l" rtl="0" fontAlgn="base">
              <a:spcBef>
                <a:spcPct val="0"/>
              </a:spcBef>
              <a:spcAft>
                <a:spcPct val="0"/>
              </a:spcAft>
              <a:defRPr sz="2800" b="1">
                <a:solidFill>
                  <a:schemeClr val="bg1"/>
                </a:solidFill>
                <a:latin typeface="Calibri" pitchFamily="34" charset="0"/>
              </a:defRPr>
            </a:lvl5pPr>
            <a:lvl6pPr marL="457200" algn="l" rtl="0" fontAlgn="base">
              <a:spcBef>
                <a:spcPct val="0"/>
              </a:spcBef>
              <a:spcAft>
                <a:spcPct val="0"/>
              </a:spcAft>
              <a:defRPr sz="2800" b="1">
                <a:solidFill>
                  <a:schemeClr val="bg1"/>
                </a:solidFill>
                <a:latin typeface="Calibri" pitchFamily="34" charset="0"/>
              </a:defRPr>
            </a:lvl6pPr>
            <a:lvl7pPr marL="914400" algn="l" rtl="0" fontAlgn="base">
              <a:spcBef>
                <a:spcPct val="0"/>
              </a:spcBef>
              <a:spcAft>
                <a:spcPct val="0"/>
              </a:spcAft>
              <a:defRPr sz="2800" b="1">
                <a:solidFill>
                  <a:schemeClr val="bg1"/>
                </a:solidFill>
                <a:latin typeface="Calibri" pitchFamily="34" charset="0"/>
              </a:defRPr>
            </a:lvl7pPr>
            <a:lvl8pPr marL="1371600" algn="l" rtl="0" fontAlgn="base">
              <a:spcBef>
                <a:spcPct val="0"/>
              </a:spcBef>
              <a:spcAft>
                <a:spcPct val="0"/>
              </a:spcAft>
              <a:defRPr sz="2800" b="1">
                <a:solidFill>
                  <a:schemeClr val="bg1"/>
                </a:solidFill>
                <a:latin typeface="Calibri" pitchFamily="34" charset="0"/>
              </a:defRPr>
            </a:lvl8pPr>
            <a:lvl9pPr marL="1828800" algn="l" rtl="0" fontAlgn="base">
              <a:spcBef>
                <a:spcPct val="0"/>
              </a:spcBef>
              <a:spcAft>
                <a:spcPct val="0"/>
              </a:spcAft>
              <a:defRPr sz="2800" b="1">
                <a:solidFill>
                  <a:schemeClr val="bg1"/>
                </a:solidFill>
                <a:latin typeface="Calibri" pitchFamily="34" charset="0"/>
              </a:defRPr>
            </a:lvl9pPr>
          </a:lstStyle>
          <a:p>
            <a:r>
              <a:rPr lang="en-US" sz="2800" dirty="0"/>
              <a:t>Click to edit Master title style</a:t>
            </a:r>
          </a:p>
        </p:txBody>
      </p:sp>
      <p:sp>
        <p:nvSpPr>
          <p:cNvPr id="8" name="Rectangle 7">
            <a:extLst>
              <a:ext uri="{FF2B5EF4-FFF2-40B4-BE49-F238E27FC236}">
                <a16:creationId xmlns:a16="http://schemas.microsoft.com/office/drawing/2014/main" id="{6C95535F-FB0E-423C-A497-8270A7D437EF}"/>
              </a:ext>
            </a:extLst>
          </p:cNvPr>
          <p:cNvSpPr/>
          <p:nvPr userDrawn="1"/>
        </p:nvSpPr>
        <p:spPr>
          <a:xfrm>
            <a:off x="0" y="-11113"/>
            <a:ext cx="12192000" cy="914401"/>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solidFill>
                <a:prstClr val="white"/>
              </a:solidFill>
              <a:latin typeface="Arial" panose="020B0604020202020204"/>
            </a:endParaRPr>
          </a:p>
        </p:txBody>
      </p:sp>
      <p:pic>
        <p:nvPicPr>
          <p:cNvPr id="9" name="Picture 4">
            <a:extLst>
              <a:ext uri="{FF2B5EF4-FFF2-40B4-BE49-F238E27FC236}">
                <a16:creationId xmlns:a16="http://schemas.microsoft.com/office/drawing/2014/main" id="{FB6C6CED-CB50-425A-B024-0616AE18BA57}"/>
              </a:ext>
            </a:extLst>
          </p:cNvPr>
          <p:cNvPicPr>
            <a:picLocks noChangeAspect="1"/>
          </p:cNvPicPr>
          <p:nvPr userDrawn="1"/>
        </p:nvPicPr>
        <p:blipFill>
          <a:blip r:embed="rId2" cstate="print"/>
          <a:srcRect/>
          <a:stretch>
            <a:fillRect/>
          </a:stretch>
        </p:blipFill>
        <p:spPr bwMode="auto">
          <a:xfrm>
            <a:off x="11328400" y="37447"/>
            <a:ext cx="812800" cy="833439"/>
          </a:xfrm>
          <a:prstGeom prst="rect">
            <a:avLst/>
          </a:prstGeom>
          <a:noFill/>
          <a:ln w="9525">
            <a:noFill/>
            <a:miter lim="800000"/>
            <a:headEnd/>
            <a:tailEnd/>
          </a:ln>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00245" y="-42033"/>
            <a:ext cx="891755" cy="945321"/>
          </a:xfrm>
          <a:prstGeom prst="rect">
            <a:avLst/>
          </a:prstGeom>
        </p:spPr>
      </p:pic>
    </p:spTree>
    <p:extLst>
      <p:ext uri="{BB962C8B-B14F-4D97-AF65-F5344CB8AC3E}">
        <p14:creationId xmlns:p14="http://schemas.microsoft.com/office/powerpoint/2010/main" val="309298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 y="52388"/>
            <a:ext cx="10972800" cy="766763"/>
          </a:xfrm>
          <a:prstGeom prst="rect">
            <a:avLst/>
          </a:prstGeom>
        </p:spPr>
        <p:txBody>
          <a:bodyPr>
            <a:normAutofit/>
          </a:bodyPr>
          <a:lstStyle>
            <a:lvl1pPr>
              <a:defRPr lang="en-US" sz="2800" b="1" kern="120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5BFA03E2-432A-4CEB-90F5-DABA8EB56D23}" type="datetime1">
              <a:rPr lang="en-US"/>
              <a:pPr>
                <a:defRPr/>
              </a:pPr>
              <a:t>3/28/2026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FBBF61CF-E01E-4A46-BB21-3455A7373A30}" type="slidenum">
              <a:rPr lang="en-US"/>
              <a:pPr/>
              <a:t>‹#›</a:t>
            </a:fld>
            <a:endParaRPr lang="en-US"/>
          </a:p>
        </p:txBody>
      </p:sp>
      <p:sp>
        <p:nvSpPr>
          <p:cNvPr id="7" name="Rectangle 6">
            <a:extLst>
              <a:ext uri="{FF2B5EF4-FFF2-40B4-BE49-F238E27FC236}">
                <a16:creationId xmlns:a16="http://schemas.microsoft.com/office/drawing/2014/main" id="{B54A42BD-1738-490C-ACCE-58B57800458C}"/>
              </a:ext>
            </a:extLst>
          </p:cNvPr>
          <p:cNvSpPr/>
          <p:nvPr userDrawn="1"/>
        </p:nvSpPr>
        <p:spPr>
          <a:xfrm>
            <a:off x="0" y="-11113"/>
            <a:ext cx="12192000" cy="914401"/>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solidFill>
                <a:prstClr val="white"/>
              </a:solidFill>
              <a:latin typeface="Arial" panose="020B0604020202020204"/>
            </a:endParaRPr>
          </a:p>
        </p:txBody>
      </p:sp>
      <p:pic>
        <p:nvPicPr>
          <p:cNvPr id="8" name="Picture 4">
            <a:extLst>
              <a:ext uri="{FF2B5EF4-FFF2-40B4-BE49-F238E27FC236}">
                <a16:creationId xmlns:a16="http://schemas.microsoft.com/office/drawing/2014/main" id="{7D944DC7-32AE-4772-B03F-2BE328FF513F}"/>
              </a:ext>
            </a:extLst>
          </p:cNvPr>
          <p:cNvPicPr>
            <a:picLocks noChangeAspect="1"/>
          </p:cNvPicPr>
          <p:nvPr userDrawn="1"/>
        </p:nvPicPr>
        <p:blipFill>
          <a:blip r:embed="rId2" cstate="print"/>
          <a:srcRect/>
          <a:stretch>
            <a:fillRect/>
          </a:stretch>
        </p:blipFill>
        <p:spPr bwMode="auto">
          <a:xfrm>
            <a:off x="11328400" y="37447"/>
            <a:ext cx="812800" cy="833439"/>
          </a:xfrm>
          <a:prstGeom prst="rect">
            <a:avLst/>
          </a:prstGeom>
          <a:noFill/>
          <a:ln w="9525">
            <a:noFill/>
            <a:miter lim="800000"/>
            <a:headEnd/>
            <a:tailEnd/>
          </a:ln>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00245" y="-42033"/>
            <a:ext cx="891755" cy="945321"/>
          </a:xfrm>
          <a:prstGeom prst="rect">
            <a:avLst/>
          </a:prstGeom>
        </p:spPr>
      </p:pic>
    </p:spTree>
    <p:extLst>
      <p:ext uri="{BB962C8B-B14F-4D97-AF65-F5344CB8AC3E}">
        <p14:creationId xmlns:p14="http://schemas.microsoft.com/office/powerpoint/2010/main" val="396993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8F1A2404-0419-4993-8C2E-229857E74A0A}" type="datetime1">
              <a:rPr lang="en-US"/>
              <a:pPr>
                <a:defRPr/>
              </a:pPr>
              <a:t>3/28/2026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A75401F7-19DE-4F0A-81F3-1DFE22F935DF}" type="slidenum">
              <a:rPr lang="en-US"/>
              <a:pPr/>
              <a:t>‹#›</a:t>
            </a:fld>
            <a:endParaRPr lang="en-US"/>
          </a:p>
        </p:txBody>
      </p:sp>
    </p:spTree>
    <p:extLst>
      <p:ext uri="{BB962C8B-B14F-4D97-AF65-F5344CB8AC3E}">
        <p14:creationId xmlns:p14="http://schemas.microsoft.com/office/powerpoint/2010/main" val="1815907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 y="52388"/>
            <a:ext cx="10972800" cy="766763"/>
          </a:xfrm>
          <a:prstGeom prst="rect">
            <a:avLst/>
          </a:prstGeom>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BBAB9522-EA16-40D3-A0E2-93829D461890}" type="datetime1">
              <a:rPr lang="en-US"/>
              <a:pPr>
                <a:defRPr/>
              </a:pPr>
              <a:t>3/28/2026</a:t>
            </a:fld>
            <a:endParaRPr lang="en-US"/>
          </a:p>
        </p:txBody>
      </p:sp>
      <p:sp>
        <p:nvSpPr>
          <p:cNvPr id="6" name="Footer Placeholder 5"/>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9DFE6787-3750-4410-80B8-E929710E746F}" type="slidenum">
              <a:rPr lang="en-US"/>
              <a:pPr/>
              <a:t>‹#›</a:t>
            </a:fld>
            <a:endParaRPr lang="en-US"/>
          </a:p>
        </p:txBody>
      </p:sp>
    </p:spTree>
    <p:extLst>
      <p:ext uri="{BB962C8B-B14F-4D97-AF65-F5344CB8AC3E}">
        <p14:creationId xmlns:p14="http://schemas.microsoft.com/office/powerpoint/2010/main" val="2922635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 y="52388"/>
            <a:ext cx="10972800" cy="76676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E1790398-E95A-4F9E-B947-1C982CF1C0F8}" type="datetime1">
              <a:rPr lang="en-US"/>
              <a:pPr>
                <a:defRPr/>
              </a:pPr>
              <a:t>3/28/2026</a:t>
            </a:fld>
            <a:endParaRPr lang="en-US"/>
          </a:p>
        </p:txBody>
      </p:sp>
      <p:sp>
        <p:nvSpPr>
          <p:cNvPr id="8" name="Footer Placeholder 7"/>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9" name="Slide Number Placeholder 8"/>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4310523E-808F-43BE-A399-E05342151F18}" type="slidenum">
              <a:rPr lang="en-US"/>
              <a:pPr/>
              <a:t>‹#›</a:t>
            </a:fld>
            <a:endParaRPr lang="en-US"/>
          </a:p>
        </p:txBody>
      </p:sp>
    </p:spTree>
    <p:extLst>
      <p:ext uri="{BB962C8B-B14F-4D97-AF65-F5344CB8AC3E}">
        <p14:creationId xmlns:p14="http://schemas.microsoft.com/office/powerpoint/2010/main" val="3014695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 y="26353"/>
            <a:ext cx="10972800" cy="767080"/>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BBED98F6-3582-4BC6-AF7B-EC7889601913}" type="datetime1">
              <a:rPr lang="en-US"/>
              <a:pPr>
                <a:defRPr/>
              </a:pPr>
              <a:t>3/28/2026</a:t>
            </a:fld>
            <a:endParaRPr 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5" name="Slide Number Placeholder 4"/>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95C3E875-8613-4FA0-971B-DAFC1FE5CF81}" type="slidenum">
              <a:rPr lang="en-US"/>
              <a:pPr/>
              <a:t>‹#›</a:t>
            </a:fld>
            <a:endParaRPr lang="en-US"/>
          </a:p>
        </p:txBody>
      </p:sp>
    </p:spTree>
    <p:extLst>
      <p:ext uri="{BB962C8B-B14F-4D97-AF65-F5344CB8AC3E}">
        <p14:creationId xmlns:p14="http://schemas.microsoft.com/office/powerpoint/2010/main" val="3644679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p:cNvSpPr>
            <a:spLocks noGrp="1"/>
          </p:cNvSpPr>
          <p:nvPr>
            <p:ph type="title"/>
          </p:nvPr>
        </p:nvSpPr>
        <p:spPr>
          <a:xfrm>
            <a:off x="50800" y="26353"/>
            <a:ext cx="10972800" cy="767080"/>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Date Placeholder 1"/>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D5224C0C-2120-423D-B5CB-CC4E69E87D93}" type="datetime1">
              <a:rPr lang="en-US"/>
              <a:pPr>
                <a:defRPr/>
              </a:pPr>
              <a:t>3/28/2026</a:t>
            </a:fld>
            <a:endParaRPr lang="en-US"/>
          </a:p>
        </p:txBody>
      </p:sp>
      <p:sp>
        <p:nvSpPr>
          <p:cNvPr id="4" name="Footer Placeholder 2"/>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3"/>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16983C56-CC76-44A7-A1C1-1DB460E1FE9C}" type="slidenum">
              <a:rPr lang="en-US"/>
              <a:pPr/>
              <a:t>‹#›</a:t>
            </a:fld>
            <a:endParaRPr lang="en-US"/>
          </a:p>
        </p:txBody>
      </p:sp>
    </p:spTree>
    <p:extLst>
      <p:ext uri="{BB962C8B-B14F-4D97-AF65-F5344CB8AC3E}">
        <p14:creationId xmlns:p14="http://schemas.microsoft.com/office/powerpoint/2010/main" val="2859466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100312DD-51DB-4A1E-BBDB-626D6F8A7B4E}" type="datetime1">
              <a:rPr lang="en-US"/>
              <a:pPr>
                <a:defRPr/>
              </a:pPr>
              <a:t>3/28/2026</a:t>
            </a:fld>
            <a:endParaRPr lang="en-US"/>
          </a:p>
        </p:txBody>
      </p:sp>
      <p:sp>
        <p:nvSpPr>
          <p:cNvPr id="6" name="Footer Placeholder 5"/>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5C373E89-6B56-4A6E-A586-5BDD1BD318AC}" type="slidenum">
              <a:rPr lang="en-US"/>
              <a:pPr/>
              <a:t>‹#›</a:t>
            </a:fld>
            <a:endParaRPr lang="en-US"/>
          </a:p>
        </p:txBody>
      </p:sp>
    </p:spTree>
    <p:extLst>
      <p:ext uri="{BB962C8B-B14F-4D97-AF65-F5344CB8AC3E}">
        <p14:creationId xmlns:p14="http://schemas.microsoft.com/office/powerpoint/2010/main" val="2805555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3"/>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DD61A62B-E79A-4037-A077-DB738974E417}" type="datetime1">
              <a:rPr lang="en-US"/>
              <a:pPr>
                <a:defRPr/>
              </a:pPr>
              <a:t>3/28/2026</a:t>
            </a:fld>
            <a:endParaRPr lang="en-US"/>
          </a:p>
        </p:txBody>
      </p:sp>
      <p:sp>
        <p:nvSpPr>
          <p:cNvPr id="6" name="Footer Placeholder 5"/>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6A2FDE5A-A7BC-4B13-BE3B-B8BC780DCA7A}" type="slidenum">
              <a:rPr lang="en-US"/>
              <a:pPr/>
              <a:t>‹#›</a:t>
            </a:fld>
            <a:endParaRPr lang="en-US"/>
          </a:p>
        </p:txBody>
      </p:sp>
    </p:spTree>
    <p:extLst>
      <p:ext uri="{BB962C8B-B14F-4D97-AF65-F5344CB8AC3E}">
        <p14:creationId xmlns:p14="http://schemas.microsoft.com/office/powerpoint/2010/main" val="143148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800" y="52388"/>
            <a:ext cx="10972800" cy="7667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35F139F6-9969-460F-BCF6-A966AC9F092B}" type="datetime1">
              <a:rPr lang="en-US"/>
              <a:pPr>
                <a:defRPr/>
              </a:pPr>
              <a:t>3/28/2026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8F6A8466-6471-4BFF-B2DB-1B9BF6972E6F}" type="slidenum">
              <a:rPr lang="en-US"/>
              <a:pPr/>
              <a:t>‹#›</a:t>
            </a:fld>
            <a:endParaRPr lang="en-US"/>
          </a:p>
        </p:txBody>
      </p:sp>
    </p:spTree>
    <p:extLst>
      <p:ext uri="{BB962C8B-B14F-4D97-AF65-F5344CB8AC3E}">
        <p14:creationId xmlns:p14="http://schemas.microsoft.com/office/powerpoint/2010/main" val="3482530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3CA912EC-6A01-475F-B3B8-19813CC46BBE}" type="datetime1">
              <a:rPr lang="en-US"/>
              <a:pPr>
                <a:defRPr/>
              </a:pPr>
              <a:t>3/28/2026</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E695E433-A34E-4866-AE28-50BD5B170EA4}" type="slidenum">
              <a:rPr lang="en-US"/>
              <a:pPr/>
              <a:t>‹#›</a:t>
            </a:fld>
            <a:endParaRPr lang="en-US"/>
          </a:p>
        </p:txBody>
      </p:sp>
    </p:spTree>
    <p:extLst>
      <p:ext uri="{BB962C8B-B14F-4D97-AF65-F5344CB8AC3E}">
        <p14:creationId xmlns:p14="http://schemas.microsoft.com/office/powerpoint/2010/main" val="479120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939638" y="36513"/>
            <a:ext cx="184730" cy="369332"/>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fontAlgn="auto" hangingPunct="1">
              <a:spcBef>
                <a:spcPts val="0"/>
              </a:spcBef>
              <a:spcAft>
                <a:spcPts val="0"/>
              </a:spcAft>
              <a:defRPr/>
            </a:pPr>
            <a:endParaRPr lang="en-US" sz="1800">
              <a:solidFill>
                <a:srgbClr val="000000"/>
              </a:solidFill>
            </a:endParaRPr>
          </a:p>
        </p:txBody>
      </p:sp>
      <p:sp>
        <p:nvSpPr>
          <p:cNvPr id="3" name="Text Box 5"/>
          <p:cNvSpPr txBox="1">
            <a:spLocks noChangeArrowheads="1"/>
          </p:cNvSpPr>
          <p:nvPr/>
        </p:nvSpPr>
        <p:spPr bwMode="auto">
          <a:xfrm>
            <a:off x="2112435" y="265113"/>
            <a:ext cx="9266767" cy="36933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fontAlgn="auto" hangingPunct="1">
              <a:spcBef>
                <a:spcPts val="0"/>
              </a:spcBef>
              <a:spcAft>
                <a:spcPts val="0"/>
              </a:spcAft>
              <a:defRPr/>
            </a:pPr>
            <a:endParaRPr lang="en-US" sz="1800">
              <a:solidFill>
                <a:srgbClr val="000000"/>
              </a:solidFill>
            </a:endParaRPr>
          </a:p>
        </p:txBody>
      </p:sp>
      <p:sp>
        <p:nvSpPr>
          <p:cNvPr id="4" name="Text Box 6"/>
          <p:cNvSpPr txBox="1">
            <a:spLocks noChangeArrowheads="1"/>
          </p:cNvSpPr>
          <p:nvPr/>
        </p:nvSpPr>
        <p:spPr bwMode="auto">
          <a:xfrm>
            <a:off x="203202" y="1"/>
            <a:ext cx="11705167" cy="36933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fontAlgn="auto" hangingPunct="1">
              <a:spcBef>
                <a:spcPts val="0"/>
              </a:spcBef>
              <a:spcAft>
                <a:spcPts val="0"/>
              </a:spcAft>
              <a:defRPr/>
            </a:pPr>
            <a:endParaRPr lang="en-US" sz="1800">
              <a:solidFill>
                <a:srgbClr val="000000"/>
              </a:solidFill>
            </a:endParaRPr>
          </a:p>
        </p:txBody>
      </p:sp>
      <p:sp>
        <p:nvSpPr>
          <p:cNvPr id="5" name="Text Box 7"/>
          <p:cNvSpPr txBox="1">
            <a:spLocks noChangeArrowheads="1"/>
          </p:cNvSpPr>
          <p:nvPr/>
        </p:nvSpPr>
        <p:spPr bwMode="auto">
          <a:xfrm>
            <a:off x="1939638" y="265113"/>
            <a:ext cx="184730" cy="369332"/>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fontAlgn="auto" hangingPunct="1">
              <a:spcBef>
                <a:spcPts val="0"/>
              </a:spcBef>
              <a:spcAft>
                <a:spcPts val="0"/>
              </a:spcAft>
              <a:defRPr/>
            </a:pPr>
            <a:endParaRPr lang="en-US" sz="1800">
              <a:solidFill>
                <a:srgbClr val="000000"/>
              </a:solidFill>
            </a:endParaRPr>
          </a:p>
        </p:txBody>
      </p:sp>
    </p:spTree>
    <p:extLst>
      <p:ext uri="{BB962C8B-B14F-4D97-AF65-F5344CB8AC3E}">
        <p14:creationId xmlns:p14="http://schemas.microsoft.com/office/powerpoint/2010/main" val="364864797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a:xfrm>
            <a:off x="609600" y="6356352"/>
            <a:ext cx="2844800" cy="365125"/>
          </a:xfrm>
          <a:prstGeom prst="rect">
            <a:avLst/>
          </a:prstGeom>
        </p:spPr>
        <p:txBody>
          <a:bodyPr/>
          <a:lstStyle>
            <a:lvl1pPr eaLnBrk="0" fontAlgn="base" hangingPunct="0">
              <a:spcBef>
                <a:spcPct val="0"/>
              </a:spcBef>
              <a:spcAft>
                <a:spcPct val="0"/>
              </a:spcAft>
              <a:defRPr smtClean="0">
                <a:latin typeface="Arial" panose="020B0604020202020204" pitchFamily="34" charset="0"/>
                <a:cs typeface="Arial" panose="020B0604020202020204" pitchFamily="34" charset="0"/>
              </a:defRPr>
            </a:lvl1pPr>
          </a:lstStyle>
          <a:p>
            <a:pPr>
              <a:defRPr/>
            </a:pPr>
            <a:fld id="{AE0BC9E8-4B57-4343-855C-A0FCE914477D}" type="datetime1">
              <a:rPr lang="en-US"/>
              <a:pPr>
                <a:defRPr/>
              </a:pPr>
              <a:t>3/28/2026</a:t>
            </a:fld>
            <a:endParaRPr lang="en-US"/>
          </a:p>
        </p:txBody>
      </p:sp>
      <p:sp>
        <p:nvSpPr>
          <p:cNvPr id="3" name="Footer Placeholder 21"/>
          <p:cNvSpPr>
            <a:spLocks noGrp="1"/>
          </p:cNvSpPr>
          <p:nvPr>
            <p:ph type="ftr" sz="quarter" idx="11"/>
          </p:nvPr>
        </p:nvSpPr>
        <p:spPr>
          <a:xfrm>
            <a:off x="4165600" y="6356352"/>
            <a:ext cx="3860800" cy="365125"/>
          </a:xfrm>
          <a:prstGeom prst="rect">
            <a:avLst/>
          </a:prstGeom>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a:p>
        </p:txBody>
      </p:sp>
      <p:sp>
        <p:nvSpPr>
          <p:cNvPr id="4" name="Slide Number Placeholder 17"/>
          <p:cNvSpPr>
            <a:spLocks noGrp="1"/>
          </p:cNvSpPr>
          <p:nvPr>
            <p:ph type="sldNum" sz="quarter" idx="12"/>
          </p:nvPr>
        </p:nvSpPr>
        <p:spPr>
          <a:xfrm>
            <a:off x="8737600" y="6356352"/>
            <a:ext cx="2844800" cy="365125"/>
          </a:xfrm>
          <a:prstGeom prst="rect">
            <a:avLst/>
          </a:prstGeom>
        </p:spPr>
        <p:txBody>
          <a:bodyPr/>
          <a:lstStyle>
            <a:lvl1pPr eaLnBrk="0" hangingPunct="0">
              <a:defRPr>
                <a:latin typeface="Arial" charset="0"/>
              </a:defRPr>
            </a:lvl1pPr>
          </a:lstStyle>
          <a:p>
            <a:fld id="{34D16C93-1A69-4A82-A767-9EBB8AB6B5DE}" type="slidenum">
              <a:rPr lang="en-US"/>
              <a:pPr/>
              <a:t>‹#›</a:t>
            </a:fld>
            <a:endParaRPr lang="en-US"/>
          </a:p>
        </p:txBody>
      </p:sp>
    </p:spTree>
    <p:extLst>
      <p:ext uri="{BB962C8B-B14F-4D97-AF65-F5344CB8AC3E}">
        <p14:creationId xmlns:p14="http://schemas.microsoft.com/office/powerpoint/2010/main" val="397467353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08521" y="1"/>
            <a:ext cx="891755" cy="945321"/>
          </a:xfrm>
          <a:prstGeom prst="rect">
            <a:avLst/>
          </a:prstGeom>
        </p:spPr>
      </p:pic>
    </p:spTree>
    <p:extLst>
      <p:ext uri="{BB962C8B-B14F-4D97-AF65-F5344CB8AC3E}">
        <p14:creationId xmlns:p14="http://schemas.microsoft.com/office/powerpoint/2010/main" val="994420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reserve="1">
  <p:cSld name="2_Title Slide">
    <p:spTree>
      <p:nvGrpSpPr>
        <p:cNvPr id="1" name="Shape 17"/>
        <p:cNvGrpSpPr/>
        <p:nvPr/>
      </p:nvGrpSpPr>
      <p:grpSpPr>
        <a:xfrm>
          <a:off x="0" y="0"/>
          <a:ext cx="0" cy="0"/>
          <a:chOff x="0" y="0"/>
          <a:chExt cx="0" cy="0"/>
        </a:xfrm>
      </p:grpSpPr>
      <p:sp>
        <p:nvSpPr>
          <p:cNvPr id="18" name="Google Shape;18;p20"/>
          <p:cNvSpPr/>
          <p:nvPr/>
        </p:nvSpPr>
        <p:spPr>
          <a:xfrm>
            <a:off x="0" y="4751388"/>
            <a:ext cx="12192000" cy="2112963"/>
          </a:xfrm>
          <a:custGeom>
            <a:avLst/>
            <a:gdLst/>
            <a:ahLst/>
            <a:cxnLst/>
            <a:rect l="l" t="t" r="r" b="b"/>
            <a:pathLst>
              <a:path w="5760" h="1331" extrusionOk="0">
                <a:moveTo>
                  <a:pt x="0" y="1066"/>
                </a:moveTo>
                <a:lnTo>
                  <a:pt x="0" y="1331"/>
                </a:lnTo>
                <a:lnTo>
                  <a:pt x="5760" y="1331"/>
                </a:lnTo>
                <a:lnTo>
                  <a:pt x="5760" y="0"/>
                </a:lnTo>
                <a:cubicBezTo>
                  <a:pt x="3220" y="1206"/>
                  <a:pt x="2250" y="1146"/>
                  <a:pt x="0" y="1066"/>
                </a:cubicBezTo>
                <a:close/>
              </a:path>
            </a:pathLst>
          </a:custGeom>
          <a:solidFill>
            <a:srgbClr val="7B7B7B">
              <a:alpha val="44705"/>
            </a:srgbClr>
          </a:solidFill>
          <a:ln>
            <a:noFill/>
          </a:ln>
          <a:effectLst>
            <a:outerShdw blurRad="50800" dist="44450" dir="16200000" algn="ctr" rotWithShape="0">
              <a:srgbClr val="000000">
                <a:alpha val="3490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 name="Google Shape;19;p20"/>
          <p:cNvSpPr/>
          <p:nvPr/>
        </p:nvSpPr>
        <p:spPr>
          <a:xfrm>
            <a:off x="8140703" y="0"/>
            <a:ext cx="4051300" cy="6858000"/>
          </a:xfrm>
          <a:custGeom>
            <a:avLst/>
            <a:gdLst/>
            <a:ahLst/>
            <a:cxnLst/>
            <a:rect l="l" t="t" r="r" b="b"/>
            <a:pathLst>
              <a:path w="1914" h="4329" extrusionOk="0">
                <a:moveTo>
                  <a:pt x="1914" y="9"/>
                </a:moveTo>
                <a:lnTo>
                  <a:pt x="1914" y="4329"/>
                </a:lnTo>
                <a:lnTo>
                  <a:pt x="204" y="4327"/>
                </a:lnTo>
                <a:cubicBezTo>
                  <a:pt x="1288" y="3574"/>
                  <a:pt x="1608" y="1590"/>
                  <a:pt x="0" y="0"/>
                </a:cubicBezTo>
                <a:lnTo>
                  <a:pt x="1914" y="9"/>
                </a:lnTo>
                <a:close/>
              </a:path>
            </a:pathLst>
          </a:custGeom>
          <a:solidFill>
            <a:srgbClr val="5A5A5A">
              <a:alpha val="40000"/>
            </a:srgbClr>
          </a:solidFill>
          <a:ln>
            <a:noFill/>
          </a:ln>
          <a:effectLst>
            <a:outerShdw blurRad="50800" dist="50800" dir="10800000" algn="ctr" rotWithShape="0">
              <a:srgbClr val="000000">
                <a:alpha val="44705"/>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 name="Google Shape;20;p20"/>
          <p:cNvSpPr txBox="1">
            <a:spLocks noGrp="1"/>
          </p:cNvSpPr>
          <p:nvPr>
            <p:ph type="ctrTitle"/>
          </p:nvPr>
        </p:nvSpPr>
        <p:spPr>
          <a:xfrm>
            <a:off x="609600" y="1752602"/>
            <a:ext cx="8839200" cy="43088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b="1" cap="none">
                <a:solidFill>
                  <a:srgbClr val="89B2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0"/>
          <p:cNvSpPr txBox="1">
            <a:spLocks noGrp="1"/>
          </p:cNvSpPr>
          <p:nvPr>
            <p:ph type="dt" idx="10"/>
          </p:nvPr>
        </p:nvSpPr>
        <p:spPr>
          <a:xfrm>
            <a:off x="609600" y="6377943"/>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0"/>
          <p:cNvSpPr txBox="1">
            <a:spLocks noGrp="1"/>
          </p:cNvSpPr>
          <p:nvPr>
            <p:ph type="ftr" idx="11"/>
          </p:nvPr>
        </p:nvSpPr>
        <p:spPr>
          <a:xfrm>
            <a:off x="4145280" y="6377943"/>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b="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0"/>
          <p:cNvSpPr txBox="1">
            <a:spLocks noGrp="1"/>
          </p:cNvSpPr>
          <p:nvPr>
            <p:ph type="sldNum" idx="12"/>
          </p:nvPr>
        </p:nvSpPr>
        <p:spPr>
          <a:xfrm>
            <a:off x="8778240" y="6377943"/>
            <a:ext cx="2804160" cy="276999"/>
          </a:xfrm>
          <a:prstGeom prst="rect">
            <a:avLst/>
          </a:prstGeom>
          <a:noFill/>
          <a:ln>
            <a:noFill/>
          </a:ln>
        </p:spPr>
        <p:txBody>
          <a:bodyPr spcFirstLastPara="1" wrap="square" lIns="0" tIns="0" rIns="0" bIns="0" anchor="t" anchorCtr="0">
            <a:spAutoFit/>
          </a:bodyPr>
          <a:lstStyle>
            <a:lvl1pPr marL="0" marR="0" lvl="0" indent="0" algn="r">
              <a:spcBef>
                <a:spcPts val="0"/>
              </a:spcBef>
              <a:buNone/>
              <a:defRPr sz="1800" b="1">
                <a:solidFill>
                  <a:schemeClr val="lt1"/>
                </a:solidFill>
                <a:latin typeface="Calibri"/>
                <a:ea typeface="Calibri"/>
                <a:cs typeface="Calibri"/>
                <a:sym typeface="Calibri"/>
              </a:defRPr>
            </a:lvl1pPr>
            <a:lvl2pPr marL="0" marR="0" lvl="1" indent="0" algn="r">
              <a:spcBef>
                <a:spcPts val="0"/>
              </a:spcBef>
              <a:buNone/>
              <a:defRPr sz="1800" b="1">
                <a:solidFill>
                  <a:schemeClr val="lt1"/>
                </a:solidFill>
                <a:latin typeface="Calibri"/>
                <a:ea typeface="Calibri"/>
                <a:cs typeface="Calibri"/>
                <a:sym typeface="Calibri"/>
              </a:defRPr>
            </a:lvl2pPr>
            <a:lvl3pPr marL="0" marR="0" lvl="2" indent="0" algn="r">
              <a:spcBef>
                <a:spcPts val="0"/>
              </a:spcBef>
              <a:buNone/>
              <a:defRPr sz="1800" b="1">
                <a:solidFill>
                  <a:schemeClr val="lt1"/>
                </a:solidFill>
                <a:latin typeface="Calibri"/>
                <a:ea typeface="Calibri"/>
                <a:cs typeface="Calibri"/>
                <a:sym typeface="Calibri"/>
              </a:defRPr>
            </a:lvl3pPr>
            <a:lvl4pPr marL="0" marR="0" lvl="3" indent="0" algn="r">
              <a:spcBef>
                <a:spcPts val="0"/>
              </a:spcBef>
              <a:buNone/>
              <a:defRPr sz="1800" b="1">
                <a:solidFill>
                  <a:schemeClr val="lt1"/>
                </a:solidFill>
                <a:latin typeface="Calibri"/>
                <a:ea typeface="Calibri"/>
                <a:cs typeface="Calibri"/>
                <a:sym typeface="Calibri"/>
              </a:defRPr>
            </a:lvl4pPr>
            <a:lvl5pPr marL="0" marR="0" lvl="4" indent="0" algn="r">
              <a:spcBef>
                <a:spcPts val="0"/>
              </a:spcBef>
              <a:buNone/>
              <a:defRPr sz="1800" b="1">
                <a:solidFill>
                  <a:schemeClr val="lt1"/>
                </a:solidFill>
                <a:latin typeface="Calibri"/>
                <a:ea typeface="Calibri"/>
                <a:cs typeface="Calibri"/>
                <a:sym typeface="Calibri"/>
              </a:defRPr>
            </a:lvl5pPr>
            <a:lvl6pPr marL="0" marR="0" lvl="5" indent="0" algn="r">
              <a:spcBef>
                <a:spcPts val="0"/>
              </a:spcBef>
              <a:buNone/>
              <a:defRPr sz="1800" b="1">
                <a:solidFill>
                  <a:schemeClr val="lt1"/>
                </a:solidFill>
                <a:latin typeface="Calibri"/>
                <a:ea typeface="Calibri"/>
                <a:cs typeface="Calibri"/>
                <a:sym typeface="Calibri"/>
              </a:defRPr>
            </a:lvl6pPr>
            <a:lvl7pPr marL="0" marR="0" lvl="6" indent="0" algn="r">
              <a:spcBef>
                <a:spcPts val="0"/>
              </a:spcBef>
              <a:buNone/>
              <a:defRPr sz="1800" b="1">
                <a:solidFill>
                  <a:schemeClr val="lt1"/>
                </a:solidFill>
                <a:latin typeface="Calibri"/>
                <a:ea typeface="Calibri"/>
                <a:cs typeface="Calibri"/>
                <a:sym typeface="Calibri"/>
              </a:defRPr>
            </a:lvl7pPr>
            <a:lvl8pPr marL="0" marR="0" lvl="7" indent="0" algn="r">
              <a:spcBef>
                <a:spcPts val="0"/>
              </a:spcBef>
              <a:buNone/>
              <a:defRPr sz="1800" b="1">
                <a:solidFill>
                  <a:schemeClr val="lt1"/>
                </a:solidFill>
                <a:latin typeface="Calibri"/>
                <a:ea typeface="Calibri"/>
                <a:cs typeface="Calibri"/>
                <a:sym typeface="Calibri"/>
              </a:defRPr>
            </a:lvl8pPr>
            <a:lvl9pPr marL="0" marR="0" lvl="8" indent="0" algn="r">
              <a:spcBef>
                <a:spcPts val="0"/>
              </a:spcBef>
              <a:buNone/>
              <a:defRPr sz="1800" b="1">
                <a:solidFill>
                  <a:schemeClr val="lt1"/>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349109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preserve="1">
  <p:cSld name="2_Blank">
    <p:spTree>
      <p:nvGrpSpPr>
        <p:cNvPr id="1" name="Shape 38"/>
        <p:cNvGrpSpPr/>
        <p:nvPr/>
      </p:nvGrpSpPr>
      <p:grpSpPr>
        <a:xfrm>
          <a:off x="0" y="0"/>
          <a:ext cx="0" cy="0"/>
          <a:chOff x="0" y="0"/>
          <a:chExt cx="0" cy="0"/>
        </a:xfrm>
      </p:grpSpPr>
      <p:sp>
        <p:nvSpPr>
          <p:cNvPr id="39" name="Google Shape;39;p22"/>
          <p:cNvSpPr txBox="1">
            <a:spLocks noGrp="1"/>
          </p:cNvSpPr>
          <p:nvPr>
            <p:ph type="ftr" idx="11"/>
          </p:nvPr>
        </p:nvSpPr>
        <p:spPr>
          <a:xfrm>
            <a:off x="4145280" y="6377941"/>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2"/>
          <p:cNvSpPr txBox="1">
            <a:spLocks noGrp="1"/>
          </p:cNvSpPr>
          <p:nvPr>
            <p:ph type="dt" idx="10"/>
          </p:nvPr>
        </p:nvSpPr>
        <p:spPr>
          <a:xfrm>
            <a:off x="609600" y="6377941"/>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2"/>
          <p:cNvSpPr txBox="1">
            <a:spLocks noGrp="1"/>
          </p:cNvSpPr>
          <p:nvPr>
            <p:ph type="sldNum" idx="12"/>
          </p:nvPr>
        </p:nvSpPr>
        <p:spPr>
          <a:xfrm>
            <a:off x="8778240" y="6377942"/>
            <a:ext cx="2804160" cy="276999"/>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sz="1800">
              <a:ea typeface="Calibri"/>
              <a:cs typeface="Calibri"/>
              <a:sym typeface="Calibri"/>
            </a:endParaRPr>
          </a:p>
        </p:txBody>
      </p:sp>
    </p:spTree>
    <p:extLst>
      <p:ext uri="{BB962C8B-B14F-4D97-AF65-F5344CB8AC3E}">
        <p14:creationId xmlns:p14="http://schemas.microsoft.com/office/powerpoint/2010/main" val="2916811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Slide Number Placeholder 17"/>
          <p:cNvSpPr txBox="1">
            <a:spLocks/>
          </p:cNvSpPr>
          <p:nvPr userDrawn="1"/>
        </p:nvSpPr>
        <p:spPr>
          <a:xfrm>
            <a:off x="10871200" y="6421440"/>
            <a:ext cx="1016000" cy="365125"/>
          </a:xfrm>
          <a:prstGeom prst="rect">
            <a:avLst/>
          </a:prstGeom>
        </p:spPr>
        <p:txBody>
          <a:bodyPr lIns="0" tIns="0" rIns="0" bIns="0" anchor="b"/>
          <a:lstStyle/>
          <a:p>
            <a:pPr algn="r"/>
            <a:fld id="{9F76C259-0E96-4B48-9EF6-D8797AC6BCA0}" type="slidenum">
              <a:rPr lang="en-US" sz="1000" b="1" smtClean="0">
                <a:solidFill>
                  <a:srgbClr val="FFFFFF"/>
                </a:solidFill>
                <a:latin typeface="Arial" charset="0"/>
                <a:cs typeface="Arial" charset="0"/>
              </a:rPr>
              <a:pPr algn="r"/>
              <a:t>‹#›</a:t>
            </a:fld>
            <a:endParaRPr lang="en-US" sz="1000" b="1">
              <a:solidFill>
                <a:srgbClr val="FFFFFF"/>
              </a:solidFill>
              <a:latin typeface="Arial" charset="0"/>
              <a:cs typeface="Arial" charset="0"/>
            </a:endParaRPr>
          </a:p>
        </p:txBody>
      </p:sp>
      <p:sp>
        <p:nvSpPr>
          <p:cNvPr id="15" name="Rectangle 14">
            <a:extLst>
              <a:ext uri="{FF2B5EF4-FFF2-40B4-BE49-F238E27FC236}">
                <a16:creationId xmlns:a16="http://schemas.microsoft.com/office/drawing/2014/main" id="{591C914C-36ED-48FB-92F3-A363D14A43BF}"/>
              </a:ext>
            </a:extLst>
          </p:cNvPr>
          <p:cNvSpPr/>
          <p:nvPr userDrawn="1"/>
        </p:nvSpPr>
        <p:spPr>
          <a:xfrm>
            <a:off x="0" y="-11113"/>
            <a:ext cx="12192000" cy="914401"/>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solidFill>
                <a:prstClr val="white"/>
              </a:solidFill>
              <a:latin typeface="Arial" panose="020B0604020202020204"/>
            </a:endParaRPr>
          </a:p>
        </p:txBody>
      </p:sp>
      <p:pic>
        <p:nvPicPr>
          <p:cNvPr id="16" name="Picture 4">
            <a:extLst>
              <a:ext uri="{FF2B5EF4-FFF2-40B4-BE49-F238E27FC236}">
                <a16:creationId xmlns:a16="http://schemas.microsoft.com/office/drawing/2014/main" id="{B7B25442-9D6A-4CD7-9AB1-33C4A240BB58}"/>
              </a:ext>
            </a:extLst>
          </p:cNvPr>
          <p:cNvPicPr>
            <a:picLocks noChangeAspect="1"/>
          </p:cNvPicPr>
          <p:nvPr userDrawn="1"/>
        </p:nvPicPr>
        <p:blipFill>
          <a:blip r:embed="rId18" cstate="print"/>
          <a:srcRect/>
          <a:stretch>
            <a:fillRect/>
          </a:stretch>
        </p:blipFill>
        <p:spPr bwMode="auto">
          <a:xfrm>
            <a:off x="11328400" y="37447"/>
            <a:ext cx="812800" cy="833439"/>
          </a:xfrm>
          <a:prstGeom prst="rect">
            <a:avLst/>
          </a:prstGeom>
          <a:noFill/>
          <a:ln w="9525">
            <a:noFill/>
            <a:miter lim="800000"/>
            <a:headEnd/>
            <a:tailEnd/>
          </a:ln>
        </p:spPr>
      </p:pic>
      <p:pic>
        <p:nvPicPr>
          <p:cNvPr id="5" name="Picture 4"/>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1300245" y="-42033"/>
            <a:ext cx="891755" cy="945321"/>
          </a:xfrm>
          <a:prstGeom prst="rect">
            <a:avLst/>
          </a:prstGeom>
        </p:spPr>
      </p:pic>
    </p:spTree>
    <p:extLst>
      <p:ext uri="{BB962C8B-B14F-4D97-AF65-F5344CB8AC3E}">
        <p14:creationId xmlns:p14="http://schemas.microsoft.com/office/powerpoint/2010/main" val="156990154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hdr="0" ftr="0" dt="0"/>
  <p:txStyles>
    <p:titleStyle>
      <a:lvl1pPr algn="l" rtl="0" fontAlgn="base">
        <a:spcBef>
          <a:spcPct val="0"/>
        </a:spcBef>
        <a:spcAft>
          <a:spcPct val="0"/>
        </a:spcAft>
        <a:defRPr sz="2800" b="1" kern="1200">
          <a:solidFill>
            <a:schemeClr val="bg1"/>
          </a:solidFill>
          <a:latin typeface="+mj-lt"/>
          <a:ea typeface="+mj-ea"/>
          <a:cs typeface="+mj-cs"/>
        </a:defRPr>
      </a:lvl1pPr>
      <a:lvl2pPr algn="l" rtl="0" fontAlgn="base">
        <a:spcBef>
          <a:spcPct val="0"/>
        </a:spcBef>
        <a:spcAft>
          <a:spcPct val="0"/>
        </a:spcAft>
        <a:defRPr sz="2800" b="1">
          <a:solidFill>
            <a:schemeClr val="bg1"/>
          </a:solidFill>
          <a:latin typeface="Calibri" pitchFamily="34" charset="0"/>
        </a:defRPr>
      </a:lvl2pPr>
      <a:lvl3pPr algn="l" rtl="0" fontAlgn="base">
        <a:spcBef>
          <a:spcPct val="0"/>
        </a:spcBef>
        <a:spcAft>
          <a:spcPct val="0"/>
        </a:spcAft>
        <a:defRPr sz="2800" b="1">
          <a:solidFill>
            <a:schemeClr val="bg1"/>
          </a:solidFill>
          <a:latin typeface="Calibri" pitchFamily="34" charset="0"/>
        </a:defRPr>
      </a:lvl3pPr>
      <a:lvl4pPr algn="l" rtl="0" fontAlgn="base">
        <a:spcBef>
          <a:spcPct val="0"/>
        </a:spcBef>
        <a:spcAft>
          <a:spcPct val="0"/>
        </a:spcAft>
        <a:defRPr sz="2800" b="1">
          <a:solidFill>
            <a:schemeClr val="bg1"/>
          </a:solidFill>
          <a:latin typeface="Calibri" pitchFamily="34" charset="0"/>
        </a:defRPr>
      </a:lvl4pPr>
      <a:lvl5pPr algn="l" rtl="0" fontAlgn="base">
        <a:spcBef>
          <a:spcPct val="0"/>
        </a:spcBef>
        <a:spcAft>
          <a:spcPct val="0"/>
        </a:spcAft>
        <a:defRPr sz="2800" b="1">
          <a:solidFill>
            <a:schemeClr val="bg1"/>
          </a:solidFill>
          <a:latin typeface="Calibri" pitchFamily="34" charset="0"/>
        </a:defRPr>
      </a:lvl5pPr>
      <a:lvl6pPr marL="457189" algn="l" rtl="0" fontAlgn="base">
        <a:spcBef>
          <a:spcPct val="0"/>
        </a:spcBef>
        <a:spcAft>
          <a:spcPct val="0"/>
        </a:spcAft>
        <a:defRPr sz="2800" b="1">
          <a:solidFill>
            <a:schemeClr val="bg1"/>
          </a:solidFill>
          <a:latin typeface="Calibri" pitchFamily="34" charset="0"/>
        </a:defRPr>
      </a:lvl6pPr>
      <a:lvl7pPr marL="914377" algn="l" rtl="0" fontAlgn="base">
        <a:spcBef>
          <a:spcPct val="0"/>
        </a:spcBef>
        <a:spcAft>
          <a:spcPct val="0"/>
        </a:spcAft>
        <a:defRPr sz="2800" b="1">
          <a:solidFill>
            <a:schemeClr val="bg1"/>
          </a:solidFill>
          <a:latin typeface="Calibri" pitchFamily="34" charset="0"/>
        </a:defRPr>
      </a:lvl7pPr>
      <a:lvl8pPr marL="1371566" algn="l" rtl="0" fontAlgn="base">
        <a:spcBef>
          <a:spcPct val="0"/>
        </a:spcBef>
        <a:spcAft>
          <a:spcPct val="0"/>
        </a:spcAft>
        <a:defRPr sz="2800" b="1">
          <a:solidFill>
            <a:schemeClr val="bg1"/>
          </a:solidFill>
          <a:latin typeface="Calibri" pitchFamily="34" charset="0"/>
        </a:defRPr>
      </a:lvl8pPr>
      <a:lvl9pPr marL="1828754" algn="l" rtl="0" fontAlgn="base">
        <a:spcBef>
          <a:spcPct val="0"/>
        </a:spcBef>
        <a:spcAft>
          <a:spcPct val="0"/>
        </a:spcAft>
        <a:defRPr sz="2800" b="1">
          <a:solidFill>
            <a:schemeClr val="bg1"/>
          </a:solidFill>
          <a:latin typeface="Calibri" pitchFamily="34" charset="0"/>
        </a:defRPr>
      </a:lvl9pPr>
    </p:titleStyle>
    <p:bodyStyle>
      <a:lvl1pPr marL="342891" indent="-342891" algn="l" rtl="0" fontAlgn="base">
        <a:spcBef>
          <a:spcPct val="20000"/>
        </a:spcBef>
        <a:spcAft>
          <a:spcPct val="0"/>
        </a:spcAft>
        <a:buFont typeface="Arial" charset="0"/>
        <a:buChar char="•"/>
        <a:defRPr sz="3200" kern="1200">
          <a:solidFill>
            <a:schemeClr val="accent1"/>
          </a:solidFill>
          <a:latin typeface="+mn-lt"/>
          <a:ea typeface="+mn-ea"/>
          <a:cs typeface="+mn-cs"/>
        </a:defRPr>
      </a:lvl1pPr>
      <a:lvl2pPr marL="742932" indent="-285744" algn="l" rtl="0" fontAlgn="base">
        <a:spcBef>
          <a:spcPct val="20000"/>
        </a:spcBef>
        <a:spcAft>
          <a:spcPct val="0"/>
        </a:spcAft>
        <a:buFont typeface="Arial" charset="0"/>
        <a:buChar char="–"/>
        <a:defRPr sz="2800" kern="1200">
          <a:solidFill>
            <a:schemeClr val="accent1"/>
          </a:solidFill>
          <a:latin typeface="+mn-lt"/>
          <a:ea typeface="+mn-ea"/>
          <a:cs typeface="+mn-cs"/>
        </a:defRPr>
      </a:lvl2pPr>
      <a:lvl3pPr marL="1142971" indent="-228594" algn="l" rtl="0" fontAlgn="base">
        <a:spcBef>
          <a:spcPct val="20000"/>
        </a:spcBef>
        <a:spcAft>
          <a:spcPct val="0"/>
        </a:spcAft>
        <a:buFont typeface="Arial" charset="0"/>
        <a:buChar char="•"/>
        <a:defRPr sz="2400" kern="1200">
          <a:solidFill>
            <a:schemeClr val="accent1"/>
          </a:solidFill>
          <a:latin typeface="+mn-lt"/>
          <a:ea typeface="+mn-ea"/>
          <a:cs typeface="+mn-cs"/>
        </a:defRPr>
      </a:lvl3pPr>
      <a:lvl4pPr marL="1600160" indent="-228594" algn="l" rtl="0" fontAlgn="base">
        <a:spcBef>
          <a:spcPct val="20000"/>
        </a:spcBef>
        <a:spcAft>
          <a:spcPct val="0"/>
        </a:spcAft>
        <a:buFont typeface="Arial" charset="0"/>
        <a:buChar char="–"/>
        <a:defRPr sz="2000" kern="1200">
          <a:solidFill>
            <a:schemeClr val="accent1"/>
          </a:solidFill>
          <a:latin typeface="+mn-lt"/>
          <a:ea typeface="+mn-ea"/>
          <a:cs typeface="+mn-cs"/>
        </a:defRPr>
      </a:lvl4pPr>
      <a:lvl5pPr marL="2057349" indent="-228594" algn="l" rtl="0" fontAlgn="base">
        <a:spcBef>
          <a:spcPct val="20000"/>
        </a:spcBef>
        <a:spcAft>
          <a:spcPct val="0"/>
        </a:spcAft>
        <a:buFont typeface="Arial" charset="0"/>
        <a:buChar char="»"/>
        <a:defRPr sz="2000" kern="1200">
          <a:solidFill>
            <a:schemeClr val="accent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
          <p:cNvSpPr/>
          <p:nvPr/>
        </p:nvSpPr>
        <p:spPr>
          <a:xfrm>
            <a:off x="16778" y="904017"/>
            <a:ext cx="12192000" cy="6642755"/>
          </a:xfrm>
          <a:prstGeom prst="rect">
            <a:avLst/>
          </a:prstGeom>
          <a:solidFill>
            <a:srgbClr val="2F71A2"/>
          </a:solidFill>
          <a:ln>
            <a:noFill/>
          </a:ln>
        </p:spPr>
        <p:txBody>
          <a:bodyPr spcFirstLastPara="1" wrap="square" lIns="91425" tIns="45700" rIns="91425" bIns="45700" anchor="ctr" anchorCtr="0">
            <a:noAutofit/>
          </a:bodyPr>
          <a:lstStyle/>
          <a:p>
            <a:pPr algn="ctr"/>
            <a:r>
              <a:rPr lang="en-US" b="1" dirty="0">
                <a:solidFill>
                  <a:schemeClr val="lt1"/>
                </a:solidFill>
                <a:latin typeface="Calibri"/>
                <a:ea typeface="Calibri"/>
                <a:cs typeface="Calibri"/>
                <a:sym typeface="Calibri"/>
              </a:rPr>
              <a:t>INSTITUTE OF AERONAUTICAL ENGINEERING </a:t>
            </a:r>
            <a:endParaRPr dirty="0"/>
          </a:p>
          <a:p>
            <a:pPr algn="ctr"/>
            <a:r>
              <a:rPr lang="en-US" sz="1400" b="1" dirty="0">
                <a:solidFill>
                  <a:schemeClr val="lt1"/>
                </a:solidFill>
                <a:latin typeface="Calibri"/>
                <a:ea typeface="Calibri"/>
                <a:cs typeface="Calibri"/>
                <a:sym typeface="Calibri"/>
              </a:rPr>
              <a:t>(Autonomous)</a:t>
            </a:r>
            <a:endParaRPr dirty="0"/>
          </a:p>
          <a:p>
            <a:pPr algn="ctr"/>
            <a:r>
              <a:rPr lang="en-US" b="1" dirty="0" err="1">
                <a:solidFill>
                  <a:schemeClr val="lt1"/>
                </a:solidFill>
                <a:latin typeface="Calibri"/>
                <a:ea typeface="Calibri"/>
                <a:cs typeface="Calibri"/>
                <a:sym typeface="Calibri"/>
              </a:rPr>
              <a:t>Dundigal</a:t>
            </a:r>
            <a:r>
              <a:rPr lang="en-US" b="1" dirty="0">
                <a:solidFill>
                  <a:schemeClr val="lt1"/>
                </a:solidFill>
                <a:latin typeface="Calibri"/>
                <a:ea typeface="Calibri"/>
                <a:cs typeface="Calibri"/>
                <a:sym typeface="Calibri"/>
              </a:rPr>
              <a:t>, Hyderabad - 500 043</a:t>
            </a:r>
            <a:endParaRPr dirty="0">
              <a:solidFill>
                <a:schemeClr val="lt1"/>
              </a:solidFill>
              <a:latin typeface="Calibri"/>
              <a:ea typeface="Calibri"/>
              <a:cs typeface="Calibri"/>
              <a:sym typeface="Calibri"/>
            </a:endParaRPr>
          </a:p>
          <a:p>
            <a:pPr lvl="0" algn="ct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ELECTRONICS  AND COMMUNICATION ENGINEERING</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72" name="Google Shape;72;p1" descr="iarelogo.JPG"/>
          <p:cNvPicPr preferRelativeResize="0"/>
          <p:nvPr/>
        </p:nvPicPr>
        <p:blipFill rotWithShape="1">
          <a:blip r:embed="rId3">
            <a:alphaModFix/>
          </a:blip>
          <a:srcRect/>
          <a:stretch/>
        </p:blipFill>
        <p:spPr>
          <a:xfrm>
            <a:off x="5486400" y="5562600"/>
            <a:ext cx="1219200" cy="1066800"/>
          </a:xfrm>
          <a:prstGeom prst="rect">
            <a:avLst/>
          </a:prstGeom>
          <a:noFill/>
          <a:ln>
            <a:noFill/>
          </a:ln>
        </p:spPr>
      </p:pic>
      <p:sp>
        <p:nvSpPr>
          <p:cNvPr id="73" name="Google Shape;73;p1"/>
          <p:cNvSpPr txBox="1">
            <a:spLocks noGrp="1"/>
          </p:cNvSpPr>
          <p:nvPr>
            <p:ph type="ctrTitle"/>
          </p:nvPr>
        </p:nvSpPr>
        <p:spPr>
          <a:xfrm>
            <a:off x="609600" y="1752601"/>
            <a:ext cx="10515600" cy="492443"/>
          </a:xfrm>
          <a:prstGeom prst="rect">
            <a:avLst/>
          </a:prstGeom>
          <a:noFill/>
          <a:ln>
            <a:noFill/>
          </a:ln>
        </p:spPr>
        <p:txBody>
          <a:bodyPr spcFirstLastPara="1" vert="horz" wrap="square" lIns="0" tIns="0" rIns="0" bIns="0" rtlCol="0" anchor="t" anchorCtr="0">
            <a:spAutoFit/>
          </a:bodyPr>
          <a:lstStyle/>
          <a:p>
            <a:r>
              <a:rPr lang="en-US" sz="3200" dirty="0">
                <a:solidFill>
                  <a:schemeClr val="bg1"/>
                </a:solidFill>
                <a:latin typeface="Optima" pitchFamily="34" charset="0"/>
                <a:ea typeface="Optima" pitchFamily="34" charset="-122"/>
                <a:cs typeface="Optima" pitchFamily="34" charset="-120"/>
              </a:rPr>
              <a:t>FINANCIAL FRAUD AND RISK PREDICTION SYSTEM</a:t>
            </a: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00245" y="-37323"/>
            <a:ext cx="891755" cy="945321"/>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57080" y="5623340"/>
            <a:ext cx="1148521" cy="945321"/>
          </a:xfrm>
          <a:prstGeom prst="rect">
            <a:avLst/>
          </a:prstGeom>
        </p:spPr>
      </p:pic>
    </p:spTree>
    <p:extLst>
      <p:ext uri="{BB962C8B-B14F-4D97-AF65-F5344CB8AC3E}">
        <p14:creationId xmlns:p14="http://schemas.microsoft.com/office/powerpoint/2010/main" val="26696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2"/>
          <p:cNvSpPr txBox="1">
            <a:spLocks noGrp="1"/>
          </p:cNvSpPr>
          <p:nvPr>
            <p:ph idx="1"/>
          </p:nvPr>
        </p:nvSpPr>
        <p:spPr>
          <a:xfrm>
            <a:off x="553616" y="1250303"/>
            <a:ext cx="10080000" cy="5335628"/>
          </a:xfrm>
          <a:prstGeom prst="rect">
            <a:avLst/>
          </a:prstGeom>
          <a:noFill/>
          <a:ln>
            <a:noFill/>
          </a:ln>
        </p:spPr>
        <p:txBody>
          <a:bodyPr spcFirstLastPara="1" vert="horz" wrap="square" lIns="0" tIns="0" rIns="0" bIns="0" rtlCol="0" anchor="t" anchorCtr="0">
            <a:spAutoFit/>
          </a:bodyPr>
          <a:lstStyle/>
          <a:p>
            <a:pPr marL="0" indent="0">
              <a:spcBef>
                <a:spcPts val="0"/>
              </a:spcBef>
              <a:buNone/>
            </a:pPr>
            <a:br>
              <a:rPr lang="en-US" sz="2667" b="1" i="1" dirty="0">
                <a:solidFill>
                  <a:schemeClr val="tx1"/>
                </a:solidFill>
              </a:rPr>
            </a:br>
            <a:endParaRPr lang="en-US" sz="2667" b="1" i="1" dirty="0">
              <a:solidFill>
                <a:schemeClr val="tx1"/>
              </a:solidFill>
            </a:endParaRPr>
          </a:p>
          <a:p>
            <a:pPr marL="0" indent="0">
              <a:spcBef>
                <a:spcPts val="0"/>
              </a:spcBef>
              <a:buNone/>
            </a:pPr>
            <a:r>
              <a:rPr lang="en-US" sz="2667" b="1" dirty="0">
                <a:solidFill>
                  <a:schemeClr val="tx1"/>
                </a:solidFill>
              </a:rPr>
              <a:t>TEAM MEMBERS : </a:t>
            </a:r>
            <a:r>
              <a:rPr lang="en-US" sz="2667" dirty="0">
                <a:solidFill>
                  <a:schemeClr val="tx1"/>
                </a:solidFill>
              </a:rPr>
              <a:t>MOHAMMED ABDUL </a:t>
            </a:r>
            <a:r>
              <a:rPr lang="en-IN" sz="2667" dirty="0">
                <a:solidFill>
                  <a:schemeClr val="tx1"/>
                </a:solidFill>
              </a:rPr>
              <a:t>SOHAIL – 23951A04A4</a:t>
            </a:r>
          </a:p>
          <a:p>
            <a:pPr marL="0" indent="0">
              <a:spcBef>
                <a:spcPts val="0"/>
              </a:spcBef>
              <a:buNone/>
            </a:pPr>
            <a:r>
              <a:rPr lang="en-IN" sz="2667" b="1" dirty="0">
                <a:solidFill>
                  <a:schemeClr val="tx1"/>
                </a:solidFill>
              </a:rPr>
              <a:t>		</a:t>
            </a:r>
            <a:r>
              <a:rPr lang="en-IN" sz="2667" dirty="0">
                <a:solidFill>
                  <a:schemeClr val="tx1"/>
                </a:solidFill>
              </a:rPr>
              <a:t>          RAHUL NALLURI – 23951A04C7</a:t>
            </a:r>
            <a:br>
              <a:rPr lang="en-US" sz="2667" b="1" dirty="0">
                <a:solidFill>
                  <a:schemeClr val="tx1"/>
                </a:solidFill>
              </a:rPr>
            </a:br>
            <a:r>
              <a:rPr lang="en-US" sz="2667" b="1" dirty="0">
                <a:solidFill>
                  <a:schemeClr val="tx1"/>
                </a:solidFill>
              </a:rPr>
              <a:t>BRANCH</a:t>
            </a:r>
            <a:r>
              <a:rPr lang="en-US" sz="2667" dirty="0">
                <a:solidFill>
                  <a:schemeClr val="tx1"/>
                </a:solidFill>
              </a:rPr>
              <a:t> : ELECTRONICS  AND COMMUNICATION ENGINEERING </a:t>
            </a:r>
          </a:p>
          <a:p>
            <a:pPr marL="0" indent="0">
              <a:spcBef>
                <a:spcPts val="0"/>
              </a:spcBef>
              <a:buNone/>
            </a:pPr>
            <a:r>
              <a:rPr lang="en-US" sz="2667" b="1" dirty="0">
                <a:solidFill>
                  <a:schemeClr val="tx1"/>
                </a:solidFill>
              </a:rPr>
              <a:t>SUBJECT </a:t>
            </a:r>
            <a:r>
              <a:rPr lang="en-US" sz="2667" dirty="0">
                <a:solidFill>
                  <a:schemeClr val="tx1"/>
                </a:solidFill>
              </a:rPr>
              <a:t>: AI SPECIALIST </a:t>
            </a:r>
          </a:p>
          <a:p>
            <a:pPr marL="0" indent="0">
              <a:spcBef>
                <a:spcPts val="0"/>
              </a:spcBef>
              <a:buNone/>
            </a:pPr>
            <a:r>
              <a:rPr lang="en-US" sz="2667" b="1" dirty="0">
                <a:solidFill>
                  <a:schemeClr val="tx1"/>
                </a:solidFill>
              </a:rPr>
              <a:t>Topic : </a:t>
            </a:r>
            <a:r>
              <a:rPr lang="en-US" sz="2667" dirty="0">
                <a:solidFill>
                  <a:schemeClr val="tx1"/>
                </a:solidFill>
              </a:rPr>
              <a:t>FINANCIAL FRAUD AND RISK PREDICTION SYSTEM</a:t>
            </a:r>
          </a:p>
          <a:p>
            <a:pPr marL="0" indent="0">
              <a:spcBef>
                <a:spcPts val="0"/>
              </a:spcBef>
              <a:buNone/>
            </a:pPr>
            <a:endParaRPr lang="en-US" sz="2667" dirty="0">
              <a:solidFill>
                <a:schemeClr val="tx1"/>
              </a:solidFill>
            </a:endParaRPr>
          </a:p>
          <a:p>
            <a:pPr marL="0" indent="0">
              <a:spcBef>
                <a:spcPts val="0"/>
              </a:spcBef>
              <a:buNone/>
            </a:pPr>
            <a:endParaRPr lang="en-US" sz="2667" dirty="0">
              <a:solidFill>
                <a:schemeClr val="tx1"/>
              </a:solidFill>
            </a:endParaRPr>
          </a:p>
          <a:p>
            <a:pPr marL="0" indent="0">
              <a:spcBef>
                <a:spcPts val="0"/>
              </a:spcBef>
              <a:buNone/>
            </a:pPr>
            <a:endParaRPr lang="en-US" sz="2667" dirty="0">
              <a:solidFill>
                <a:schemeClr val="tx1"/>
              </a:solidFill>
              <a:ea typeface="Optima" pitchFamily="34" charset="-122"/>
              <a:cs typeface="Optima" pitchFamily="34" charset="-120"/>
            </a:endParaRPr>
          </a:p>
          <a:p>
            <a:pPr marL="0" indent="0">
              <a:spcBef>
                <a:spcPts val="0"/>
              </a:spcBef>
              <a:buNone/>
            </a:pPr>
            <a:endParaRPr lang="en-US" sz="2667" dirty="0">
              <a:solidFill>
                <a:schemeClr val="tx1"/>
              </a:solidFill>
            </a:endParaRPr>
          </a:p>
          <a:p>
            <a:pPr marL="0" indent="0">
              <a:spcBef>
                <a:spcPts val="0"/>
              </a:spcBef>
              <a:buNone/>
            </a:pPr>
            <a:endParaRPr lang="en-US" sz="2667" dirty="0">
              <a:solidFill>
                <a:schemeClr val="tx1"/>
              </a:solidFill>
              <a:ea typeface="Calibri" panose="020F0502020204030204" pitchFamily="34" charset="0"/>
              <a:cs typeface="Calibri" panose="020F0502020204030204" pitchFamily="34" charset="0"/>
            </a:endParaRPr>
          </a:p>
          <a:p>
            <a:pPr marL="0" indent="0">
              <a:spcBef>
                <a:spcPts val="0"/>
              </a:spcBef>
              <a:buNone/>
            </a:pPr>
            <a:endParaRPr sz="2667" dirty="0">
              <a:solidFill>
                <a:schemeClr val="tx1"/>
              </a:solidFill>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08521" y="-46654"/>
            <a:ext cx="891755" cy="945321"/>
          </a:xfrm>
          <a:prstGeom prst="rect">
            <a:avLst/>
          </a:prstGeom>
        </p:spPr>
      </p:pic>
    </p:spTree>
    <p:extLst>
      <p:ext uri="{BB962C8B-B14F-4D97-AF65-F5344CB8AC3E}">
        <p14:creationId xmlns:p14="http://schemas.microsoft.com/office/powerpoint/2010/main" val="2039040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7A88-F5D0-7B42-6B4C-63B8484AC697}"/>
              </a:ext>
            </a:extLst>
          </p:cNvPr>
          <p:cNvSpPr>
            <a:spLocks noGrp="1"/>
          </p:cNvSpPr>
          <p:nvPr>
            <p:ph type="ctrTitle"/>
          </p:nvPr>
        </p:nvSpPr>
        <p:spPr>
          <a:xfrm>
            <a:off x="183900" y="51569"/>
            <a:ext cx="6521042" cy="882606"/>
          </a:xfrm>
        </p:spPr>
        <p:txBody>
          <a:bodyPr>
            <a:normAutofit/>
          </a:bodyPr>
          <a:lstStyle/>
          <a:p>
            <a:r>
              <a:rPr lang="en-IN" sz="4000" b="1" dirty="0">
                <a:solidFill>
                  <a:schemeClr val="bg1"/>
                </a:solidFill>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4C49A13B-E830-765C-C58E-66A78AB1E0A4}"/>
              </a:ext>
            </a:extLst>
          </p:cNvPr>
          <p:cNvSpPr>
            <a:spLocks noGrp="1"/>
          </p:cNvSpPr>
          <p:nvPr>
            <p:ph type="subTitle" idx="1"/>
          </p:nvPr>
        </p:nvSpPr>
        <p:spPr>
          <a:xfrm>
            <a:off x="878047" y="1412512"/>
            <a:ext cx="10321255" cy="1655762"/>
          </a:xfrm>
        </p:spPr>
        <p:txBody>
          <a:bodyPr>
            <a:normAutofit/>
          </a:bodyPr>
          <a:lstStyle/>
          <a:p>
            <a:pPr algn="l"/>
            <a:r>
              <a:rPr lang="en-US" sz="1800" dirty="0">
                <a:solidFill>
                  <a:schemeClr val="tx1"/>
                </a:solidFill>
              </a:rPr>
              <a:t>Design an explainable AI system that detects fraudulent transactions and predicts loan default risk using customer history, transaction patterns, and machine learning models in real time.</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9913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617F7-2DCA-60D9-44D8-4C2DE1FADF81}"/>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FAFE496-2CC7-7F71-8618-32F159FF22A4}"/>
              </a:ext>
            </a:extLst>
          </p:cNvPr>
          <p:cNvSpPr>
            <a:spLocks noGrp="1"/>
          </p:cNvSpPr>
          <p:nvPr>
            <p:ph idx="1"/>
          </p:nvPr>
        </p:nvSpPr>
        <p:spPr>
          <a:xfrm>
            <a:off x="838200" y="1456509"/>
            <a:ext cx="10515600" cy="4351338"/>
          </a:xfrm>
        </p:spPr>
        <p:txBody>
          <a:bodyPr>
            <a:normAutofit fontScale="85000" lnSpcReduction="10000"/>
          </a:bodyPr>
          <a:lstStyle/>
          <a:p>
            <a:pPr marL="0" indent="0">
              <a:lnSpc>
                <a:spcPct val="150000"/>
              </a:lnSpc>
              <a:buNone/>
            </a:pPr>
            <a:r>
              <a:rPr lang="en-US" sz="1800" dirty="0">
                <a:solidFill>
                  <a:schemeClr val="tx1"/>
                </a:solidFill>
              </a:rPr>
              <a:t>Financial fraud and loan default risks pose significant challenges to modern financial systems, leading to substantial economic losses and reduced trust in digital transactions. This project presents </a:t>
            </a:r>
            <a:r>
              <a:rPr lang="en-US" sz="1800" b="1" dirty="0" err="1">
                <a:solidFill>
                  <a:schemeClr val="tx1"/>
                </a:solidFill>
              </a:rPr>
              <a:t>FinRisk</a:t>
            </a:r>
            <a:r>
              <a:rPr lang="en-US" sz="1800" b="1" dirty="0">
                <a:solidFill>
                  <a:schemeClr val="tx1"/>
                </a:solidFill>
              </a:rPr>
              <a:t> AI</a:t>
            </a:r>
            <a:r>
              <a:rPr lang="en-US" sz="1800" dirty="0">
                <a:solidFill>
                  <a:schemeClr val="tx1"/>
                </a:solidFill>
              </a:rPr>
              <a:t>, an intelligent financial risk assessment platform designed to detect fraudulent transactions and predict loan approval risk using a hybrid approach that combines machine learning models with rule-based validation and customer history analysis. The system integrates a Random Forest–based fraud detection model and a Gradient Boosting–based loan risk prediction model to evaluate transaction behavior and borrower eligibility in real time. In addition to model predictions, the platform incorporates realistic transaction-type limits and dataset-driven customer fraud history to improve reliability and decision accuracy. A customer profiling module retrieves transaction patterns, fraud ratios, and historical activity to generate explainable risk insights. The system also provides transparent outputs such as risk scores, confidence levels, and decision explanations through an interactive dashboard interface. By combining predictive analytics with practical banking constraints and explainable decision support, the proposed solution enhances fraud detection accuracy and supports safer loan approval processes, making it suitable as a prototype for intelligent financial risk management systems.</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933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60C0-4B7C-7362-5F91-2D106034114F}"/>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D245AEF9-2299-EB0E-C070-077CF44D06B7}"/>
              </a:ext>
            </a:extLst>
          </p:cNvPr>
          <p:cNvSpPr>
            <a:spLocks noGrp="1" noChangeArrowheads="1"/>
          </p:cNvSpPr>
          <p:nvPr>
            <p:ph idx="1"/>
          </p:nvPr>
        </p:nvSpPr>
        <p:spPr bwMode="auto">
          <a:xfrm>
            <a:off x="695502" y="1006018"/>
            <a:ext cx="9987108" cy="503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hangingPunct="0">
              <a:lnSpc>
                <a:spcPct val="150000"/>
              </a:lnSpc>
              <a:spcBef>
                <a:spcPct val="0"/>
              </a:spcBef>
            </a:pPr>
            <a:r>
              <a:rPr lang="en-US" sz="1800" dirty="0">
                <a:solidFill>
                  <a:schemeClr val="tx1"/>
                </a:solidFill>
              </a:rPr>
              <a:t>Collect and preprocess real-world financial transaction and loan risk datasets for fraud detection and credit risk analysis.</a:t>
            </a:r>
          </a:p>
          <a:p>
            <a:pPr algn="just" eaLnBrk="0" hangingPunct="0">
              <a:lnSpc>
                <a:spcPct val="150000"/>
              </a:lnSpc>
              <a:spcBef>
                <a:spcPct val="0"/>
              </a:spcBef>
            </a:pPr>
            <a:r>
              <a:rPr lang="en-US" sz="1800" dirty="0">
                <a:solidFill>
                  <a:schemeClr val="tx1"/>
                </a:solidFill>
              </a:rPr>
              <a:t>Build and train machine learning models (Random Forest and Gradient Boosting) for transaction fraud detection and loan default prediction</a:t>
            </a:r>
          </a:p>
          <a:p>
            <a:pPr algn="just" eaLnBrk="0" hangingPunct="0">
              <a:lnSpc>
                <a:spcPct val="150000"/>
              </a:lnSpc>
              <a:spcBef>
                <a:spcPct val="0"/>
              </a:spcBef>
            </a:pPr>
            <a:r>
              <a:rPr lang="en-US" sz="1800" dirty="0">
                <a:solidFill>
                  <a:schemeClr val="tx1"/>
                </a:solidFill>
              </a:rPr>
              <a:t>Improve prediction reliability by integrating customer transaction history and dataset-based fraud behavior analysis</a:t>
            </a:r>
          </a:p>
          <a:p>
            <a:pPr algn="just" eaLnBrk="0" hangingPunct="0">
              <a:lnSpc>
                <a:spcPct val="150000"/>
              </a:lnSpc>
              <a:spcBef>
                <a:spcPct val="0"/>
              </a:spcBef>
            </a:pPr>
            <a:r>
              <a:rPr lang="en-US" sz="1800" dirty="0">
                <a:solidFill>
                  <a:schemeClr val="tx1"/>
                </a:solidFill>
              </a:rPr>
              <a:t>Implement transaction-type validation limits (UPI, ATM, Card, Wire, NEFT) based on realistic banking constraints</a:t>
            </a:r>
          </a:p>
          <a:p>
            <a:pPr algn="just" eaLnBrk="0" hangingPunct="0">
              <a:lnSpc>
                <a:spcPct val="150000"/>
              </a:lnSpc>
              <a:spcBef>
                <a:spcPct val="0"/>
              </a:spcBef>
            </a:pPr>
            <a:r>
              <a:rPr lang="en-US" sz="1800" dirty="0">
                <a:solidFill>
                  <a:schemeClr val="tx1"/>
                </a:solidFill>
              </a:rPr>
              <a:t>Provide explainable risk assessment using confidence scores, fraud reasons, and customer risk profiling insights</a:t>
            </a:r>
          </a:p>
          <a:p>
            <a:pPr algn="just" eaLnBrk="0" hangingPunct="0">
              <a:lnSpc>
                <a:spcPct val="150000"/>
              </a:lnSpc>
              <a:spcBef>
                <a:spcPct val="0"/>
              </a:spcBef>
            </a:pPr>
            <a:r>
              <a:rPr lang="en-US" sz="1800" dirty="0">
                <a:solidFill>
                  <a:schemeClr val="tx1"/>
                </a:solidFill>
              </a:rPr>
              <a:t>Develop an interactive web-based dashboard using Flask for real-time fraud detection and loan approval prediction</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510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60C0-4B7C-7362-5F91-2D106034114F}"/>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Block diagram</a:t>
            </a:r>
          </a:p>
        </p:txBody>
      </p:sp>
      <p:pic>
        <p:nvPicPr>
          <p:cNvPr id="4" name="Picture 3">
            <a:extLst>
              <a:ext uri="{FF2B5EF4-FFF2-40B4-BE49-F238E27FC236}">
                <a16:creationId xmlns:a16="http://schemas.microsoft.com/office/drawing/2014/main" id="{B952B8A2-0B02-7EFC-18A4-B7F000B5F2DB}"/>
              </a:ext>
            </a:extLst>
          </p:cNvPr>
          <p:cNvPicPr>
            <a:picLocks noChangeAspect="1"/>
          </p:cNvPicPr>
          <p:nvPr/>
        </p:nvPicPr>
        <p:blipFill>
          <a:blip r:embed="rId2"/>
          <a:stretch>
            <a:fillRect/>
          </a:stretch>
        </p:blipFill>
        <p:spPr>
          <a:xfrm>
            <a:off x="3029068" y="1082180"/>
            <a:ext cx="6133863" cy="5478011"/>
          </a:xfrm>
          <a:prstGeom prst="rect">
            <a:avLst/>
          </a:prstGeom>
        </p:spPr>
      </p:pic>
    </p:spTree>
    <p:extLst>
      <p:ext uri="{BB962C8B-B14F-4D97-AF65-F5344CB8AC3E}">
        <p14:creationId xmlns:p14="http://schemas.microsoft.com/office/powerpoint/2010/main" val="3697023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A5AA-737E-414E-9725-52C516F12D0C}"/>
              </a:ext>
            </a:extLst>
          </p:cNvPr>
          <p:cNvSpPr>
            <a:spLocks noGrp="1"/>
          </p:cNvSpPr>
          <p:nvPr>
            <p:ph type="title"/>
          </p:nvPr>
        </p:nvSpPr>
        <p:spPr>
          <a:xfrm>
            <a:off x="26438" y="0"/>
            <a:ext cx="10515600" cy="926780"/>
          </a:xfrm>
        </p:spPr>
        <p:txBody>
          <a:bodyPr>
            <a:normAutofit/>
          </a:bodyPr>
          <a:lstStyle/>
          <a:p>
            <a:r>
              <a:rPr lang="en-IN" sz="4000" dirty="0">
                <a:latin typeface="Times New Roman" panose="02020603050405020304" pitchFamily="18" charset="0"/>
                <a:cs typeface="Times New Roman" panose="02020603050405020304" pitchFamily="18" charset="0"/>
              </a:rPr>
              <a:t>Old vs Proposed :</a:t>
            </a:r>
          </a:p>
        </p:txBody>
      </p:sp>
      <p:graphicFrame>
        <p:nvGraphicFramePr>
          <p:cNvPr id="4" name="Content Placeholder 3">
            <a:extLst>
              <a:ext uri="{FF2B5EF4-FFF2-40B4-BE49-F238E27FC236}">
                <a16:creationId xmlns:a16="http://schemas.microsoft.com/office/drawing/2014/main" id="{80C683A0-356F-D8FF-E783-970E64927AF6}"/>
              </a:ext>
            </a:extLst>
          </p:cNvPr>
          <p:cNvGraphicFramePr>
            <a:graphicFrameLocks noGrp="1"/>
          </p:cNvGraphicFramePr>
          <p:nvPr>
            <p:ph idx="1"/>
            <p:extLst>
              <p:ext uri="{D42A27DB-BD31-4B8C-83A1-F6EECF244321}">
                <p14:modId xmlns:p14="http://schemas.microsoft.com/office/powerpoint/2010/main" val="1155474888"/>
              </p:ext>
            </p:extLst>
          </p:nvPr>
        </p:nvGraphicFramePr>
        <p:xfrm>
          <a:off x="864066" y="936676"/>
          <a:ext cx="9899008" cy="5921324"/>
        </p:xfrm>
        <a:graphic>
          <a:graphicData uri="http://schemas.openxmlformats.org/drawingml/2006/table">
            <a:tbl>
              <a:tblPr/>
              <a:tblGrid>
                <a:gridCol w="3299670">
                  <a:extLst>
                    <a:ext uri="{9D8B030D-6E8A-4147-A177-3AD203B41FA5}">
                      <a16:colId xmlns:a16="http://schemas.microsoft.com/office/drawing/2014/main" val="2923805542"/>
                    </a:ext>
                  </a:extLst>
                </a:gridCol>
                <a:gridCol w="3299669">
                  <a:extLst>
                    <a:ext uri="{9D8B030D-6E8A-4147-A177-3AD203B41FA5}">
                      <a16:colId xmlns:a16="http://schemas.microsoft.com/office/drawing/2014/main" val="4153820012"/>
                    </a:ext>
                  </a:extLst>
                </a:gridCol>
                <a:gridCol w="3299669">
                  <a:extLst>
                    <a:ext uri="{9D8B030D-6E8A-4147-A177-3AD203B41FA5}">
                      <a16:colId xmlns:a16="http://schemas.microsoft.com/office/drawing/2014/main" val="3264756766"/>
                    </a:ext>
                  </a:extLst>
                </a:gridCol>
              </a:tblGrid>
              <a:tr h="434924">
                <a:tc>
                  <a:txBody>
                    <a:bodyPr/>
                    <a:lstStyle/>
                    <a:p>
                      <a:pPr>
                        <a:buNone/>
                      </a:pPr>
                      <a:r>
                        <a:rPr lang="en-IN" sz="1600" b="1">
                          <a:latin typeface="Times New Roman" panose="02020603050405020304" pitchFamily="18" charset="0"/>
                          <a:cs typeface="Times New Roman" panose="02020603050405020304" pitchFamily="18" charset="0"/>
                        </a:rPr>
                        <a:t>Aspect</a:t>
                      </a:r>
                      <a:endParaRPr lang="en-IN" sz="1600">
                        <a:latin typeface="Times New Roman" panose="02020603050405020304" pitchFamily="18" charset="0"/>
                        <a:cs typeface="Times New Roman" panose="02020603050405020304" pitchFamily="18" charset="0"/>
                      </a:endParaRPr>
                    </a:p>
                  </a:txBody>
                  <a:tcPr marL="45804" marR="45804" marT="22902" marB="22902" anchor="ctr">
                    <a:lnL>
                      <a:noFill/>
                    </a:lnL>
                    <a:lnR>
                      <a:noFill/>
                    </a:lnR>
                    <a:lnT>
                      <a:noFill/>
                    </a:lnT>
                    <a:lnB>
                      <a:noFill/>
                    </a:lnB>
                    <a:noFill/>
                  </a:tcPr>
                </a:tc>
                <a:tc>
                  <a:txBody>
                    <a:bodyPr/>
                    <a:lstStyle/>
                    <a:p>
                      <a:pPr>
                        <a:buNone/>
                      </a:pPr>
                      <a:r>
                        <a:rPr lang="en-IN" b="1" dirty="0"/>
                        <a:t>Traditional Financial Risk Systems</a:t>
                      </a:r>
                      <a:endParaRPr lang="en-US" sz="1600" b="1" dirty="0">
                        <a:latin typeface="Times New Roman" panose="02020603050405020304" pitchFamily="18" charset="0"/>
                        <a:cs typeface="Times New Roman" panose="02020603050405020304" pitchFamily="18" charset="0"/>
                      </a:endParaRPr>
                    </a:p>
                  </a:txBody>
                  <a:tcPr marL="45804" marR="45804" marT="22902" marB="22902" anchor="ctr">
                    <a:lnL>
                      <a:noFill/>
                    </a:lnL>
                    <a:lnR>
                      <a:noFill/>
                    </a:lnR>
                    <a:lnT>
                      <a:noFill/>
                    </a:lnT>
                    <a:lnB>
                      <a:noFill/>
                    </a:lnB>
                    <a:noFill/>
                  </a:tcPr>
                </a:tc>
                <a:tc>
                  <a:txBody>
                    <a:bodyPr/>
                    <a:lstStyle/>
                    <a:p>
                      <a:pPr>
                        <a:buNone/>
                      </a:pPr>
                      <a:r>
                        <a:rPr lang="en-IN" b="1" dirty="0"/>
                        <a:t>Proposed </a:t>
                      </a:r>
                      <a:r>
                        <a:rPr lang="en-IN" b="1" dirty="0" err="1"/>
                        <a:t>FinRisk</a:t>
                      </a:r>
                      <a:r>
                        <a:rPr lang="en-IN" b="1" dirty="0"/>
                        <a:t> AI System</a:t>
                      </a:r>
                      <a:endParaRPr lang="en-US" sz="1600" b="1" dirty="0">
                        <a:latin typeface="Times New Roman" panose="02020603050405020304" pitchFamily="18" charset="0"/>
                        <a:cs typeface="Times New Roman" panose="02020603050405020304" pitchFamily="18" charset="0"/>
                      </a:endParaRPr>
                    </a:p>
                  </a:txBody>
                  <a:tcPr marL="45804" marR="45804" marT="22902" marB="22902" anchor="ctr">
                    <a:lnL>
                      <a:noFill/>
                    </a:lnL>
                    <a:lnR>
                      <a:noFill/>
                    </a:lnR>
                    <a:lnT>
                      <a:noFill/>
                    </a:lnT>
                    <a:lnB>
                      <a:noFill/>
                    </a:lnB>
                    <a:noFill/>
                  </a:tcPr>
                </a:tc>
                <a:extLst>
                  <a:ext uri="{0D108BD9-81ED-4DB2-BD59-A6C34878D82A}">
                    <a16:rowId xmlns:a16="http://schemas.microsoft.com/office/drawing/2014/main" val="4073387122"/>
                  </a:ext>
                </a:extLst>
              </a:tr>
              <a:tr h="832506">
                <a:tc>
                  <a:txBody>
                    <a:bodyPr/>
                    <a:lstStyle/>
                    <a:p>
                      <a:pPr>
                        <a:buNone/>
                      </a:pPr>
                      <a:r>
                        <a:rPr lang="en-IN" b="1" dirty="0"/>
                        <a:t>Fraud detection</a:t>
                      </a:r>
                    </a:p>
                  </a:txBody>
                  <a:tcPr anchor="ctr">
                    <a:lnL>
                      <a:noFill/>
                    </a:lnL>
                    <a:lnR>
                      <a:noFill/>
                    </a:lnR>
                    <a:lnT>
                      <a:noFill/>
                    </a:lnT>
                    <a:lnB>
                      <a:noFill/>
                    </a:lnB>
                    <a:noFill/>
                  </a:tcPr>
                </a:tc>
                <a:tc>
                  <a:txBody>
                    <a:bodyPr/>
                    <a:lstStyle/>
                    <a:p>
                      <a:pPr>
                        <a:buNone/>
                      </a:pPr>
                      <a:r>
                        <a:rPr lang="en-US" dirty="0"/>
                        <a:t>Manual monitoring or basic rule-based alerts; slow response and error-prone detection.</a:t>
                      </a:r>
                      <a:endParaRPr lang="en-IN" dirty="0"/>
                    </a:p>
                  </a:txBody>
                  <a:tcPr anchor="ctr">
                    <a:lnL>
                      <a:noFill/>
                    </a:lnL>
                    <a:lnR>
                      <a:noFill/>
                    </a:lnR>
                    <a:lnT>
                      <a:noFill/>
                    </a:lnT>
                    <a:lnB>
                      <a:noFill/>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Automatic real-time fraud detection using Random Forest machine learning model.</a:t>
                      </a:r>
                    </a:p>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707296652"/>
                  </a:ext>
                </a:extLst>
              </a:tr>
              <a:tr h="832506">
                <a:tc>
                  <a:txBody>
                    <a:bodyPr/>
                    <a:lstStyle/>
                    <a:p>
                      <a:pPr fontAlgn="t">
                        <a:buNone/>
                      </a:pPr>
                      <a:r>
                        <a:rPr lang="en-IN" b="1" dirty="0"/>
                        <a:t>Loan approval assessment</a:t>
                      </a:r>
                      <a:endParaRPr lang="en-IN" b="1"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Manual evaluation using simple scoring techniques</a:t>
                      </a:r>
                      <a:r>
                        <a:rPr lang="en-US" dirty="0">
                          <a:solidFill>
                            <a:schemeClr val="tx1"/>
                          </a:solidFill>
                          <a:effectLst/>
                        </a:rPr>
                        <a:t>.</a:t>
                      </a:r>
                    </a:p>
                  </a:txBody>
                  <a:tcPr marL="121920" marR="121920" marT="91440" marB="91440">
                    <a:lnL>
                      <a:noFill/>
                    </a:lnL>
                    <a:lnR>
                      <a:noFill/>
                    </a:lnR>
                    <a:lnT>
                      <a:noFill/>
                    </a:lnT>
                    <a:lnB>
                      <a:noFill/>
                    </a:lnB>
                    <a:noFill/>
                  </a:tcPr>
                </a:tc>
                <a:tc>
                  <a:txBody>
                    <a:bodyPr/>
                    <a:lstStyle/>
                    <a:p>
                      <a:pPr fontAlgn="t">
                        <a:buNone/>
                      </a:pPr>
                      <a:r>
                        <a:rPr lang="en-US" dirty="0"/>
                        <a:t>Automated loan risk prediction using Gradient Boosting machine learning model.</a:t>
                      </a:r>
                      <a:endParaRPr lang="en-US" dirty="0">
                        <a:solidFill>
                          <a:schemeClr val="tx1"/>
                        </a:solidFill>
                        <a:effectLst/>
                      </a:endParaRPr>
                    </a:p>
                  </a:txBody>
                  <a:tcPr marL="121920" marR="121920" marT="91440" marB="91440">
                    <a:lnL>
                      <a:noFill/>
                    </a:lnL>
                    <a:lnR>
                      <a:noFill/>
                    </a:lnR>
                    <a:lnT>
                      <a:noFill/>
                    </a:lnT>
                    <a:lnB>
                      <a:noFill/>
                    </a:lnB>
                    <a:noFill/>
                  </a:tcPr>
                </a:tc>
                <a:extLst>
                  <a:ext uri="{0D108BD9-81ED-4DB2-BD59-A6C34878D82A}">
                    <a16:rowId xmlns:a16="http://schemas.microsoft.com/office/drawing/2014/main" val="3603048166"/>
                  </a:ext>
                </a:extLst>
              </a:tr>
              <a:tr h="832506">
                <a:tc>
                  <a:txBody>
                    <a:bodyPr/>
                    <a:lstStyle/>
                    <a:p>
                      <a:pPr fontAlgn="t">
                        <a:buNone/>
                      </a:pPr>
                      <a:r>
                        <a:rPr lang="en-IN" b="1" dirty="0"/>
                        <a:t>Processing speed</a:t>
                      </a:r>
                      <a:endParaRPr lang="en-IN" b="1"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Slow processing due to manual verification and delayed response to suspicious transactions.</a:t>
                      </a:r>
                      <a:endParaRPr lang="en-US"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Real-time automated prediction using machine learning models for faster fraud detection and loan risk assessment.</a:t>
                      </a:r>
                      <a:endParaRPr lang="en-US" dirty="0">
                        <a:solidFill>
                          <a:schemeClr val="tx1"/>
                        </a:solidFill>
                        <a:effectLst/>
                      </a:endParaRPr>
                    </a:p>
                  </a:txBody>
                  <a:tcPr marL="121920" marR="121920" marT="91440" marB="91440">
                    <a:lnL>
                      <a:noFill/>
                    </a:lnL>
                    <a:lnR>
                      <a:noFill/>
                    </a:lnR>
                    <a:lnT>
                      <a:noFill/>
                    </a:lnT>
                    <a:lnB>
                      <a:noFill/>
                    </a:lnB>
                    <a:noFill/>
                  </a:tcPr>
                </a:tc>
                <a:extLst>
                  <a:ext uri="{0D108BD9-81ED-4DB2-BD59-A6C34878D82A}">
                    <a16:rowId xmlns:a16="http://schemas.microsoft.com/office/drawing/2014/main" val="1221123058"/>
                  </a:ext>
                </a:extLst>
              </a:tr>
              <a:tr h="633715">
                <a:tc>
                  <a:txBody>
                    <a:bodyPr/>
                    <a:lstStyle/>
                    <a:p>
                      <a:pPr fontAlgn="t">
                        <a:buNone/>
                      </a:pPr>
                      <a:r>
                        <a:rPr lang="en-IN" b="1" dirty="0"/>
                        <a:t>User interface</a:t>
                      </a:r>
                      <a:endParaRPr lang="en-IN" b="1"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Limited or no interactive visualization support.</a:t>
                      </a:r>
                      <a:endParaRPr lang="en-US"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Interactive dashboard displays transaction results, customer risk and loan prediction insights.</a:t>
                      </a:r>
                      <a:endParaRPr lang="en-US" dirty="0">
                        <a:solidFill>
                          <a:schemeClr val="tx1"/>
                        </a:solidFill>
                        <a:effectLst/>
                      </a:endParaRPr>
                    </a:p>
                  </a:txBody>
                  <a:tcPr marL="121920" marR="121920" marT="91440" marB="91440">
                    <a:lnL>
                      <a:noFill/>
                    </a:lnL>
                    <a:lnR>
                      <a:noFill/>
                    </a:lnR>
                    <a:lnT>
                      <a:noFill/>
                    </a:lnT>
                    <a:lnB>
                      <a:noFill/>
                    </a:lnB>
                    <a:noFill/>
                  </a:tcPr>
                </a:tc>
                <a:extLst>
                  <a:ext uri="{0D108BD9-81ED-4DB2-BD59-A6C34878D82A}">
                    <a16:rowId xmlns:a16="http://schemas.microsoft.com/office/drawing/2014/main" val="3762633391"/>
                  </a:ext>
                </a:extLst>
              </a:tr>
              <a:tr h="633715">
                <a:tc>
                  <a:txBody>
                    <a:bodyPr/>
                    <a:lstStyle/>
                    <a:p>
                      <a:pPr fontAlgn="t">
                        <a:buNone/>
                      </a:pPr>
                      <a:r>
                        <a:rPr lang="en-IN" b="1" dirty="0">
                          <a:solidFill>
                            <a:schemeClr val="tx1"/>
                          </a:solidFill>
                          <a:effectLst/>
                        </a:rPr>
                        <a:t>Technology</a:t>
                      </a:r>
                    </a:p>
                  </a:txBody>
                  <a:tcPr marL="121920" marR="121920" marT="91440" marB="91440">
                    <a:lnL>
                      <a:noFill/>
                    </a:lnL>
                    <a:lnR>
                      <a:noFill/>
                    </a:lnR>
                    <a:lnT>
                      <a:noFill/>
                    </a:lnT>
                    <a:lnB>
                      <a:noFill/>
                    </a:lnB>
                    <a:noFill/>
                  </a:tcPr>
                </a:tc>
                <a:tc>
                  <a:txBody>
                    <a:bodyPr/>
                    <a:lstStyle/>
                    <a:p>
                      <a:pPr fontAlgn="t">
                        <a:buNone/>
                      </a:pPr>
                      <a:r>
                        <a:rPr lang="en-US" dirty="0"/>
                        <a:t>Basic rule engines or manual banking workflows without intelligent automation.</a:t>
                      </a:r>
                      <a:endParaRPr lang="en-US" dirty="0">
                        <a:solidFill>
                          <a:schemeClr val="tx1"/>
                        </a:solidFill>
                        <a:effectLst/>
                      </a:endParaRPr>
                    </a:p>
                  </a:txBody>
                  <a:tcPr marL="121920" marR="121920" marT="91440" marB="91440">
                    <a:lnL>
                      <a:noFill/>
                    </a:lnL>
                    <a:lnR>
                      <a:noFill/>
                    </a:lnR>
                    <a:lnT>
                      <a:noFill/>
                    </a:lnT>
                    <a:lnB>
                      <a:noFill/>
                    </a:lnB>
                    <a:noFill/>
                  </a:tcPr>
                </a:tc>
                <a:tc>
                  <a:txBody>
                    <a:bodyPr/>
                    <a:lstStyle/>
                    <a:p>
                      <a:pPr fontAlgn="t">
                        <a:buNone/>
                      </a:pPr>
                      <a:r>
                        <a:rPr lang="en-US" dirty="0"/>
                        <a:t>Uses Machine Learning models, customer history intelligence, and Flask-based  dashboard.</a:t>
                      </a:r>
                      <a:endParaRPr lang="en-US" dirty="0">
                        <a:solidFill>
                          <a:schemeClr val="tx1"/>
                        </a:solidFill>
                        <a:effectLst/>
                      </a:endParaRPr>
                    </a:p>
                  </a:txBody>
                  <a:tcPr marL="121920" marR="121920" marT="91440" marB="91440">
                    <a:lnL>
                      <a:noFill/>
                    </a:lnL>
                    <a:lnR>
                      <a:noFill/>
                    </a:lnR>
                    <a:lnT>
                      <a:noFill/>
                    </a:lnT>
                    <a:lnB>
                      <a:noFill/>
                    </a:lnB>
                    <a:noFill/>
                  </a:tcPr>
                </a:tc>
                <a:extLst>
                  <a:ext uri="{0D108BD9-81ED-4DB2-BD59-A6C34878D82A}">
                    <a16:rowId xmlns:a16="http://schemas.microsoft.com/office/drawing/2014/main" val="34748958"/>
                  </a:ext>
                </a:extLst>
              </a:tr>
            </a:tbl>
          </a:graphicData>
        </a:graphic>
      </p:graphicFrame>
    </p:spTree>
    <p:extLst>
      <p:ext uri="{BB962C8B-B14F-4D97-AF65-F5344CB8AC3E}">
        <p14:creationId xmlns:p14="http://schemas.microsoft.com/office/powerpoint/2010/main" val="1841171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A330-7F4C-6934-B31C-245D85698AC4}"/>
              </a:ext>
            </a:extLst>
          </p:cNvPr>
          <p:cNvSpPr>
            <a:spLocks noGrp="1"/>
          </p:cNvSpPr>
          <p:nvPr>
            <p:ph type="title"/>
          </p:nvPr>
        </p:nvSpPr>
        <p:spPr/>
        <p:txBody>
          <a:bodyPr/>
          <a:lstStyle/>
          <a:p>
            <a:r>
              <a:rPr lang="en-IN" dirty="0"/>
              <a:t>Metrices of Fraud Detection Model</a:t>
            </a:r>
          </a:p>
        </p:txBody>
      </p:sp>
      <p:sp>
        <p:nvSpPr>
          <p:cNvPr id="4" name="Slide Number Placeholder 3">
            <a:extLst>
              <a:ext uri="{FF2B5EF4-FFF2-40B4-BE49-F238E27FC236}">
                <a16:creationId xmlns:a16="http://schemas.microsoft.com/office/drawing/2014/main" id="{0F570030-1CE9-B8F0-8E15-E6DAABAD0AEE}"/>
              </a:ext>
            </a:extLst>
          </p:cNvPr>
          <p:cNvSpPr>
            <a:spLocks noGrp="1"/>
          </p:cNvSpPr>
          <p:nvPr>
            <p:ph type="sldNum" sz="quarter" idx="12"/>
          </p:nvPr>
        </p:nvSpPr>
        <p:spPr/>
        <p:txBody>
          <a:bodyPr/>
          <a:lstStyle/>
          <a:p>
            <a:fld id="{FBBF61CF-E01E-4A46-BB21-3455A7373A30}" type="slidenum">
              <a:rPr lang="en-US" smtClean="0"/>
              <a:pPr/>
              <a:t>8</a:t>
            </a:fld>
            <a:endParaRPr lang="en-US"/>
          </a:p>
        </p:txBody>
      </p:sp>
      <p:pic>
        <p:nvPicPr>
          <p:cNvPr id="9" name="Picture 8">
            <a:extLst>
              <a:ext uri="{FF2B5EF4-FFF2-40B4-BE49-F238E27FC236}">
                <a16:creationId xmlns:a16="http://schemas.microsoft.com/office/drawing/2014/main" id="{5C8F1D5D-A02D-903C-4728-768DB68DB41C}"/>
              </a:ext>
            </a:extLst>
          </p:cNvPr>
          <p:cNvPicPr>
            <a:picLocks noChangeAspect="1"/>
          </p:cNvPicPr>
          <p:nvPr/>
        </p:nvPicPr>
        <p:blipFill>
          <a:blip r:embed="rId2"/>
          <a:stretch>
            <a:fillRect/>
          </a:stretch>
        </p:blipFill>
        <p:spPr>
          <a:xfrm>
            <a:off x="680158" y="1308238"/>
            <a:ext cx="5536084" cy="4128946"/>
          </a:xfrm>
          <a:prstGeom prst="rect">
            <a:avLst/>
          </a:prstGeom>
        </p:spPr>
      </p:pic>
      <p:pic>
        <p:nvPicPr>
          <p:cNvPr id="11" name="Picture 10">
            <a:extLst>
              <a:ext uri="{FF2B5EF4-FFF2-40B4-BE49-F238E27FC236}">
                <a16:creationId xmlns:a16="http://schemas.microsoft.com/office/drawing/2014/main" id="{FAEE0697-3464-0836-6691-F2392D2103A8}"/>
              </a:ext>
            </a:extLst>
          </p:cNvPr>
          <p:cNvPicPr>
            <a:picLocks noChangeAspect="1"/>
          </p:cNvPicPr>
          <p:nvPr/>
        </p:nvPicPr>
        <p:blipFill>
          <a:blip r:embed="rId3"/>
          <a:stretch>
            <a:fillRect/>
          </a:stretch>
        </p:blipFill>
        <p:spPr>
          <a:xfrm>
            <a:off x="6364911" y="1782937"/>
            <a:ext cx="5501956" cy="2587727"/>
          </a:xfrm>
          <a:prstGeom prst="rect">
            <a:avLst/>
          </a:prstGeom>
        </p:spPr>
      </p:pic>
    </p:spTree>
    <p:extLst>
      <p:ext uri="{BB962C8B-B14F-4D97-AF65-F5344CB8AC3E}">
        <p14:creationId xmlns:p14="http://schemas.microsoft.com/office/powerpoint/2010/main" val="4226198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21400-2AF4-BE0B-1A21-6E3C8BC2F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EAE05-440B-E758-8C63-35C7CE8A48C2}"/>
              </a:ext>
            </a:extLst>
          </p:cNvPr>
          <p:cNvSpPr>
            <a:spLocks noGrp="1"/>
          </p:cNvSpPr>
          <p:nvPr>
            <p:ph type="title"/>
          </p:nvPr>
        </p:nvSpPr>
        <p:spPr/>
        <p:txBody>
          <a:bodyPr/>
          <a:lstStyle/>
          <a:p>
            <a:r>
              <a:rPr lang="en-IN" dirty="0"/>
              <a:t>Metrices of Loan Model</a:t>
            </a:r>
          </a:p>
        </p:txBody>
      </p:sp>
      <p:pic>
        <p:nvPicPr>
          <p:cNvPr id="5" name="Picture 4">
            <a:extLst>
              <a:ext uri="{FF2B5EF4-FFF2-40B4-BE49-F238E27FC236}">
                <a16:creationId xmlns:a16="http://schemas.microsoft.com/office/drawing/2014/main" id="{7589487D-02E8-2FF1-4B1A-D58F2174859F}"/>
              </a:ext>
            </a:extLst>
          </p:cNvPr>
          <p:cNvPicPr>
            <a:picLocks noChangeAspect="1"/>
          </p:cNvPicPr>
          <p:nvPr/>
        </p:nvPicPr>
        <p:blipFill>
          <a:blip r:embed="rId2"/>
          <a:stretch>
            <a:fillRect/>
          </a:stretch>
        </p:blipFill>
        <p:spPr>
          <a:xfrm>
            <a:off x="1035881" y="1554317"/>
            <a:ext cx="5180361" cy="3749365"/>
          </a:xfrm>
          <a:prstGeom prst="rect">
            <a:avLst/>
          </a:prstGeom>
        </p:spPr>
      </p:pic>
      <p:pic>
        <p:nvPicPr>
          <p:cNvPr id="7" name="Picture 6">
            <a:extLst>
              <a:ext uri="{FF2B5EF4-FFF2-40B4-BE49-F238E27FC236}">
                <a16:creationId xmlns:a16="http://schemas.microsoft.com/office/drawing/2014/main" id="{E7B0C59D-D40E-FE4F-E08C-45F673489D7B}"/>
              </a:ext>
            </a:extLst>
          </p:cNvPr>
          <p:cNvPicPr>
            <a:picLocks noChangeAspect="1"/>
          </p:cNvPicPr>
          <p:nvPr/>
        </p:nvPicPr>
        <p:blipFill>
          <a:blip r:embed="rId3"/>
          <a:stretch>
            <a:fillRect/>
          </a:stretch>
        </p:blipFill>
        <p:spPr>
          <a:xfrm>
            <a:off x="6387245" y="2010274"/>
            <a:ext cx="5452493" cy="2226166"/>
          </a:xfrm>
          <a:prstGeom prst="rect">
            <a:avLst/>
          </a:prstGeom>
        </p:spPr>
      </p:pic>
    </p:spTree>
    <p:extLst>
      <p:ext uri="{BB962C8B-B14F-4D97-AF65-F5344CB8AC3E}">
        <p14:creationId xmlns:p14="http://schemas.microsoft.com/office/powerpoint/2010/main" val="715851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2061A-4739-CDBF-C425-DCA0AC115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3E3BF-2B50-A264-72C3-A6EF158E899F}"/>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Outputs:</a:t>
            </a:r>
          </a:p>
        </p:txBody>
      </p:sp>
      <p:pic>
        <p:nvPicPr>
          <p:cNvPr id="5" name="Picture 4">
            <a:extLst>
              <a:ext uri="{FF2B5EF4-FFF2-40B4-BE49-F238E27FC236}">
                <a16:creationId xmlns:a16="http://schemas.microsoft.com/office/drawing/2014/main" id="{421FAE18-B363-911B-A52A-1CE9C0519A81}"/>
              </a:ext>
            </a:extLst>
          </p:cNvPr>
          <p:cNvPicPr>
            <a:picLocks noChangeAspect="1"/>
          </p:cNvPicPr>
          <p:nvPr/>
        </p:nvPicPr>
        <p:blipFill>
          <a:blip r:embed="rId2"/>
          <a:stretch>
            <a:fillRect/>
          </a:stretch>
        </p:blipFill>
        <p:spPr>
          <a:xfrm>
            <a:off x="50800" y="1020627"/>
            <a:ext cx="11123336" cy="5068070"/>
          </a:xfrm>
          <a:prstGeom prst="rect">
            <a:avLst/>
          </a:prstGeom>
        </p:spPr>
      </p:pic>
    </p:spTree>
    <p:extLst>
      <p:ext uri="{BB962C8B-B14F-4D97-AF65-F5344CB8AC3E}">
        <p14:creationId xmlns:p14="http://schemas.microsoft.com/office/powerpoint/2010/main" val="120386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CEBE3-203B-6F7B-E797-260EADB11D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42372-6F2B-6C77-8528-AB65D83D79E8}"/>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Outputs:</a:t>
            </a:r>
          </a:p>
        </p:txBody>
      </p:sp>
      <p:pic>
        <p:nvPicPr>
          <p:cNvPr id="4" name="Picture 3">
            <a:extLst>
              <a:ext uri="{FF2B5EF4-FFF2-40B4-BE49-F238E27FC236}">
                <a16:creationId xmlns:a16="http://schemas.microsoft.com/office/drawing/2014/main" id="{5A4A7657-B712-BA8E-46C2-0A9B1FA5DA3D}"/>
              </a:ext>
            </a:extLst>
          </p:cNvPr>
          <p:cNvPicPr>
            <a:picLocks noChangeAspect="1"/>
          </p:cNvPicPr>
          <p:nvPr/>
        </p:nvPicPr>
        <p:blipFill>
          <a:blip r:embed="rId2"/>
          <a:stretch>
            <a:fillRect/>
          </a:stretch>
        </p:blipFill>
        <p:spPr>
          <a:xfrm>
            <a:off x="721452" y="1246359"/>
            <a:ext cx="10620463" cy="4825673"/>
          </a:xfrm>
          <a:prstGeom prst="rect">
            <a:avLst/>
          </a:prstGeom>
        </p:spPr>
      </p:pic>
    </p:spTree>
    <p:extLst>
      <p:ext uri="{BB962C8B-B14F-4D97-AF65-F5344CB8AC3E}">
        <p14:creationId xmlns:p14="http://schemas.microsoft.com/office/powerpoint/2010/main" val="123758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3ECD9-4F47-5A4E-C0DE-8989D88CF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26A58-6D64-E23D-F126-54D09CA5AE7E}"/>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Outputs:</a:t>
            </a:r>
          </a:p>
        </p:txBody>
      </p:sp>
      <p:pic>
        <p:nvPicPr>
          <p:cNvPr id="5" name="Picture 4">
            <a:extLst>
              <a:ext uri="{FF2B5EF4-FFF2-40B4-BE49-F238E27FC236}">
                <a16:creationId xmlns:a16="http://schemas.microsoft.com/office/drawing/2014/main" id="{FE0647D5-B96B-CE83-1B0D-F7D074B2972D}"/>
              </a:ext>
            </a:extLst>
          </p:cNvPr>
          <p:cNvPicPr>
            <a:picLocks noChangeAspect="1"/>
          </p:cNvPicPr>
          <p:nvPr/>
        </p:nvPicPr>
        <p:blipFill>
          <a:blip r:embed="rId2"/>
          <a:stretch>
            <a:fillRect/>
          </a:stretch>
        </p:blipFill>
        <p:spPr>
          <a:xfrm>
            <a:off x="612395" y="1275057"/>
            <a:ext cx="10666553" cy="4253288"/>
          </a:xfrm>
          <a:prstGeom prst="rect">
            <a:avLst/>
          </a:prstGeom>
        </p:spPr>
      </p:pic>
    </p:spTree>
    <p:extLst>
      <p:ext uri="{BB962C8B-B14F-4D97-AF65-F5344CB8AC3E}">
        <p14:creationId xmlns:p14="http://schemas.microsoft.com/office/powerpoint/2010/main" val="4251760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6C04-BD9D-0A10-4B1D-01FE2526F48C}"/>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9B53B7F6-9197-9A8B-B304-80C4A1AA0CB0}"/>
              </a:ext>
            </a:extLst>
          </p:cNvPr>
          <p:cNvSpPr>
            <a:spLocks noGrp="1"/>
          </p:cNvSpPr>
          <p:nvPr>
            <p:ph idx="1"/>
          </p:nvPr>
        </p:nvSpPr>
        <p:spPr/>
        <p:txBody>
          <a:bodyPr/>
          <a:lstStyle/>
          <a:p>
            <a:pPr lvl="0" algn="just"/>
            <a:r>
              <a:rPr lang="en-IN" sz="1800" dirty="0">
                <a:solidFill>
                  <a:schemeClr val="tx1"/>
                </a:solidFill>
              </a:rPr>
              <a:t>[1] C. Phua, V. Lee, K. Smith, and R. Gayler, "A comprehensive survey of data mining-based fraud detection research," </a:t>
            </a:r>
            <a:r>
              <a:rPr lang="en-IN" sz="1800" dirty="0" err="1">
                <a:solidFill>
                  <a:schemeClr val="tx1"/>
                </a:solidFill>
              </a:rPr>
              <a:t>arXiv</a:t>
            </a:r>
            <a:r>
              <a:rPr lang="en-IN" sz="1800" dirty="0">
                <a:solidFill>
                  <a:schemeClr val="tx1"/>
                </a:solidFill>
              </a:rPr>
              <a:t> preprint arXiv:1009.6119, 2010. </a:t>
            </a:r>
          </a:p>
          <a:p>
            <a:pPr lvl="0" algn="just"/>
            <a:r>
              <a:rPr lang="en-IN" sz="1800" dirty="0">
                <a:solidFill>
                  <a:schemeClr val="tx1"/>
                </a:solidFill>
              </a:rPr>
              <a:t>[2] S. Bhattacharyya, S. Jha, K. </a:t>
            </a:r>
            <a:r>
              <a:rPr lang="en-IN" sz="1800" dirty="0" err="1">
                <a:solidFill>
                  <a:schemeClr val="tx1"/>
                </a:solidFill>
              </a:rPr>
              <a:t>Tharakunnel</a:t>
            </a:r>
            <a:r>
              <a:rPr lang="en-IN" sz="1800" dirty="0">
                <a:solidFill>
                  <a:schemeClr val="tx1"/>
                </a:solidFill>
              </a:rPr>
              <a:t>, and J. C. Westland, "Data mining for credit card fraud: A comparative study," Decision Support Systems, vol. 50, no. 3, pp. 602–613, 2011. </a:t>
            </a:r>
          </a:p>
          <a:p>
            <a:pPr lvl="0" algn="just"/>
            <a:r>
              <a:rPr lang="en-IN" sz="1800" dirty="0">
                <a:solidFill>
                  <a:schemeClr val="tx1"/>
                </a:solidFill>
              </a:rPr>
              <a:t>[3] A. Dal </a:t>
            </a:r>
            <a:r>
              <a:rPr lang="en-IN" sz="1800" dirty="0" err="1">
                <a:solidFill>
                  <a:schemeClr val="tx1"/>
                </a:solidFill>
              </a:rPr>
              <a:t>Pozzolo</a:t>
            </a:r>
            <a:r>
              <a:rPr lang="en-IN" sz="1800" dirty="0">
                <a:solidFill>
                  <a:schemeClr val="tx1"/>
                </a:solidFill>
              </a:rPr>
              <a:t>, O. Caelen, R. A. Johnson, and G. Bontempi, "Calibrating probability with </a:t>
            </a:r>
            <a:r>
              <a:rPr lang="en-IN" sz="1800" dirty="0" err="1">
                <a:solidFill>
                  <a:schemeClr val="tx1"/>
                </a:solidFill>
              </a:rPr>
              <a:t>undersampling</a:t>
            </a:r>
            <a:r>
              <a:rPr lang="en-IN" sz="1800" dirty="0">
                <a:solidFill>
                  <a:schemeClr val="tx1"/>
                </a:solidFill>
              </a:rPr>
              <a:t> for unbalanced classification," in Proc. IEEE Symposium Series on Computational Intelligence, 2015, pp. 159–166.</a:t>
            </a:r>
          </a:p>
          <a:p>
            <a:pPr lvl="0" algn="just"/>
            <a:r>
              <a:rPr lang="en-IN" sz="1800" dirty="0">
                <a:solidFill>
                  <a:schemeClr val="tx1"/>
                </a:solidFill>
              </a:rPr>
              <a:t>[4] S. Patil and S. </a:t>
            </a:r>
            <a:r>
              <a:rPr lang="en-IN" sz="1800" dirty="0" err="1">
                <a:solidFill>
                  <a:schemeClr val="tx1"/>
                </a:solidFill>
              </a:rPr>
              <a:t>Sherekar</a:t>
            </a:r>
            <a:r>
              <a:rPr lang="en-IN" sz="1800" dirty="0">
                <a:solidFill>
                  <a:schemeClr val="tx1"/>
                </a:solidFill>
              </a:rPr>
              <a:t>, "UPI based financial fraud detection using machine learning techniques," International Journal of Computer Applications, vol. 183, no. 27, pp. 1–6, 2022. </a:t>
            </a:r>
          </a:p>
          <a:p>
            <a:pPr lvl="0" algn="just"/>
            <a:r>
              <a:rPr lang="en-IN" sz="1800" dirty="0">
                <a:solidFill>
                  <a:schemeClr val="tx1"/>
                </a:solidFill>
              </a:rPr>
              <a:t>[5] S. Jha, M. Ghahramani, and A. Choudhary, "Federated learning for financial fraud detection: A privacy preserving approach," IEEE Transactions on Neural Networks and Learning Systems, vol. 34, no. 8, pp. 4021–4033, 2023.</a:t>
            </a:r>
          </a:p>
          <a:p>
            <a:pPr lvl="0" algn="just"/>
            <a:r>
              <a:rPr lang="en-IN" sz="1800" dirty="0">
                <a:solidFill>
                  <a:schemeClr val="tx1"/>
                </a:solidFill>
              </a:rPr>
              <a:t>[6] N. Carneiro, G. Figueira, and M. Costa, "A data mining based system for credit-card fraud detection in e-tail," Decision Support Systems, vol. 95, pp. 91–101, 2017. </a:t>
            </a:r>
          </a:p>
        </p:txBody>
      </p:sp>
    </p:spTree>
    <p:extLst>
      <p:ext uri="{BB962C8B-B14F-4D97-AF65-F5344CB8AC3E}">
        <p14:creationId xmlns:p14="http://schemas.microsoft.com/office/powerpoint/2010/main" val="343003882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581</TotalTime>
  <Words>835</Words>
  <Application>Microsoft Office PowerPoint</Application>
  <PresentationFormat>Widescreen</PresentationFormat>
  <Paragraphs>58</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Optima</vt:lpstr>
      <vt:lpstr>Tahoma</vt:lpstr>
      <vt:lpstr>Times New Roman</vt:lpstr>
      <vt:lpstr>1_Office Theme</vt:lpstr>
      <vt:lpstr>FINANCIAL FRAUD AND RISK PREDICTION SYSTEM</vt:lpstr>
      <vt:lpstr>PowerPoint Presentation</vt:lpstr>
      <vt:lpstr>Problem statement:</vt:lpstr>
      <vt:lpstr>Abstract:</vt:lpstr>
      <vt:lpstr>Objectives:</vt:lpstr>
      <vt:lpstr>Block diagram</vt:lpstr>
      <vt:lpstr>Old vs Proposed :</vt:lpstr>
      <vt:lpstr>Metrices of Fraud Detection Model</vt:lpstr>
      <vt:lpstr>Metrices of Loan Model</vt:lpstr>
      <vt:lpstr>Outputs:</vt:lpstr>
      <vt:lpstr>Outputs:</vt:lpstr>
      <vt:lpstr>Outputs: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 BASED IMAGE DETECTION</dc:title>
  <dc:creator>Rahul Nalluri</dc:creator>
  <cp:lastModifiedBy>Rahul Nalluri</cp:lastModifiedBy>
  <cp:revision>17</cp:revision>
  <dcterms:created xsi:type="dcterms:W3CDTF">2025-09-23T17:20:15Z</dcterms:created>
  <dcterms:modified xsi:type="dcterms:W3CDTF">2026-03-28T04:13:29Z</dcterms:modified>
</cp:coreProperties>
</file>